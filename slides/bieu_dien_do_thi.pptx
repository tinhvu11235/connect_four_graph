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Hôm nay mình trình bày cách biến một bàn cờ Connect 4 thành một đồ thị để mạng GNN đọc được. Có ba cách: hai phương pháp của nhóm và cách của bài báo AlphaGateau (vốn làm cho cờ vua).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Đồ thị gồm nút và cạnh. GNN làm việc theo vòng: ở mỗi vòng, mỗi nút thu thập tin từ các nút nối với nó (mũi tên xanh) rồi cập nhật. Vì vậy câu hỏi quan trọng nhất là: cái gì là nút, và nối cái gì với cái gì.</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thế cờ ví dụ: đỏ có 2 quân ở hàng dưới cùng, vàng có 1 quân. Các vòng nét đứt là 7 ô mà nước đi tiếp theo có thể rơi vào. Mọi slide sau đều vẽ lại thế cờ này.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so sánh dễ, với mỗi cách ta chỉ hỏi ba câu: nút là gì, nối gì với gì, và nước đi đọc ở đâu. Mình đi từ cách đơn giản nhất (phương pháp 2) trước, rồi tới phương pháp 1, cuối cùng là AlphaGateau.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pháp 2 là cách thẳng thắn nhất: 42 ô là 42 nút, kể cả ô trống. Mỗi ô nối với tối đa 8 ô xung quanh (ngang, dọc, chéo) — tổng 131 dây. Đồ thị không bao giờ đổi; thứ thay đổi theo ván là thông tin trong từng nút. Để chấm điểm cột c, mạng nhìn vào nút của ô sẽ rơi vào ở cột đó.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nút mang 7 con số đơn giản: có quân mình không, có quân đối thủ không, trống không, đặt được ngay không, cao bao nhiêu, hàng chẵn/lẻ, cách cột giữa bao xa. Ở mỗi vòng, tin chỉ lan 1 ô, nên mạng cần vài vòng để nhìn ra một hàng 4. Thực chất phép tính này trùng với một lớp tích chập 3×3.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Phương pháp 1 bỏ đi những ô trống không quan trọng. Chỉ còn quân đã đặt và 7 ô sắp rơi vào — ở ví dụ là 10 nút. Ván càng dài đồ thị càng lớn. 7 ô sắp rơi vào bắt buộc phải giữ vì mạng chấm điểm nước đi tại đó. Dây nối các nút cách nhau tối đa 3 ô trên cùng một đường thẳng, kể cả khi ở giữa là ô không có mặt (dây xanh). Hình chỉ vẽ dây gần nhất mỗi hướng; dây xa hơn nằm chồng lên cùng đường.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Bỏ ô trống thì có cái giá: hai quân đỏ cách nhau một ô trống không còn là hàng xóm. Phương pháp 1 bù lại bằng dây nối xa tối đa 3 ô trên cùng đường thẳng, và mỗi dây ghi số ô trống ở giữa. Nhờ vậy mạng vẫn nhận ra mẫu X X _ X — một mối đe dọa thắng.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AlphaGateau làm cho cờ vua, và ý tưởng chính rất khác: dây nối chính là nước đi. Từ một ô, vẽ sẵn dây tới mọi ô mà một quân bất kỳ có thể đi tới (đường xe, tượng, hậu, bước mã…). Dây được vẽ một lần cho mọi thế cờ; thứ thay đổi là thông tin trên dây, ví dụ nước này lúc này có hợp lệ không. Vì nước đi là dây, điểm của nước đi cũng được đọc trên dây.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lợi ích: chỉ một vòng đã nhìn xa cả bàn vì dây nối thẳng; cùng một mạng chạy được nhiều cỡ bàn; và việc chấm điểm nước đi rất tự nhiên vì nước đi chính là dây.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đem sang Connect 4 thì vấp ngay một vấn đề: nước đi ở đây là thả quân vào cột, không có ô xuất phát. Nếu chỉ vẽ dây theo nước đi thì các ô trên bàn không được nối với nhau, mạng sẽ không thấy được hàng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dịch hợp lý: thêm 7 nút đại diện cho 7 cột. Dây thả nối nút cột tới các ô trong cột; dây đi tới ô sắp rơi vào được đánh dấu hợp lệ — giống cờ vua chỉ đổi cờ hợp lệ trên dây. Để các ô nói chuyện với nhau, thêm dây đường thắng nối các ô cách nhau tối đa 3 trên một đường thẳng (vẽ cho ô viền tím). Điểm của nước đi đọc trên dây thả hợp lệ.</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Lợi: dây có thông tin riêng được cập nhật mỗi vòng, có attention, và chạy được nhiều cỡ bàn. Hại: ý tưởng dây = nước đi gần như không giúp gì vì Connect 4 chỉ có 7 nước, mỗi nước tới đúng một ô; và chậm hơn khi self-play. Dây đường thắng thực chất gần giống dây nhìn xa của phương pháp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gom lại ba câu hỏi ban đầu cho cả ba cách.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lại bằng ba câu tóm tắt. Cảm ơn mọi người đã lắng nghe.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3F8C"/>
        </a:solidFill>
        <a:effectLst/>
      </p:bgPr>
    </p:bg>
    <p:spTree>
      <p:nvGrpSpPr>
        <p:cNvPr id="1" name=""/>
        <p:cNvGrpSpPr/>
        <p:nvPr/>
      </p:nvGrpSpPr>
      <p:grpSpPr/>
      <p:sp>
        <p:nvSpPr>
          <p:cNvPr id="2" name="TextBox 1"/>
          <p:cNvSpPr txBox="1"/>
          <p:nvPr/>
        </p:nvSpPr>
        <p:spPr>
          <a:xfrm>
            <a:off x="731520" y="1600200"/>
            <a:ext cx="6217920" cy="1691640"/>
          </a:xfrm>
          <a:prstGeom prst="rect">
            <a:avLst/>
          </a:prstGeom>
          <a:noFill/>
        </p:spPr>
        <p:txBody>
          <a:bodyPr wrap="square" anchor="t" lIns="0" rIns="0" tIns="0" bIns="0">
            <a:spAutoFit/>
          </a:bodyPr>
          <a:lstStyle/>
          <a:p>
            <a:pPr algn="l"/>
            <a:r>
              <a:rPr sz="4600" b="1" i="0">
                <a:solidFill>
                  <a:srgbClr val="FFFFFF"/>
                </a:solidFill>
                <a:latin typeface="Cambria"/>
              </a:rPr>
              <a:t>Biến bàn cờ</a:t>
            </a:r>
          </a:p>
          <a:p>
            <a:pPr algn="l"/>
            <a:r>
              <a:rPr sz="4600" b="1" i="0">
                <a:solidFill>
                  <a:srgbClr val="FFFFFF"/>
                </a:solidFill>
                <a:latin typeface="Cambria"/>
              </a:rPr>
              <a:t>thành đồ thị</a:t>
            </a:r>
          </a:p>
        </p:txBody>
      </p:sp>
      <p:sp>
        <p:nvSpPr>
          <p:cNvPr id="3" name="TextBox 2"/>
          <p:cNvSpPr txBox="1"/>
          <p:nvPr/>
        </p:nvSpPr>
        <p:spPr>
          <a:xfrm>
            <a:off x="731520" y="3337560"/>
            <a:ext cx="5669280" cy="914400"/>
          </a:xfrm>
          <a:prstGeom prst="rect">
            <a:avLst/>
          </a:prstGeom>
          <a:noFill/>
        </p:spPr>
        <p:txBody>
          <a:bodyPr wrap="square" anchor="t" lIns="0" rIns="0" tIns="0" bIns="0">
            <a:spAutoFit/>
          </a:bodyPr>
          <a:lstStyle/>
          <a:p>
            <a:pPr algn="l"/>
            <a:r>
              <a:rPr sz="2000" b="0" i="0">
                <a:solidFill>
                  <a:srgbClr val="CFDAF2"/>
                </a:solidFill>
                <a:latin typeface="Calibri"/>
              </a:rPr>
              <a:t>Ba cách để mạng nơ-ron đồ thị (GNN) “nhìn” một ván Connect 4</a:t>
            </a:r>
          </a:p>
        </p:txBody>
      </p:sp>
      <p:sp>
        <p:nvSpPr>
          <p:cNvPr id="4" name="TextBox 3"/>
          <p:cNvSpPr txBox="1"/>
          <p:nvPr/>
        </p:nvSpPr>
        <p:spPr>
          <a:xfrm>
            <a:off x="731520" y="5943600"/>
            <a:ext cx="5943600" cy="365760"/>
          </a:xfrm>
          <a:prstGeom prst="rect">
            <a:avLst/>
          </a:prstGeom>
          <a:noFill/>
        </p:spPr>
        <p:txBody>
          <a:bodyPr wrap="square" anchor="t" lIns="0" rIns="0" tIns="0" bIns="0">
            <a:spAutoFit/>
          </a:bodyPr>
          <a:lstStyle/>
          <a:p>
            <a:pPr algn="l"/>
            <a:r>
              <a:rPr sz="1300" b="0" i="0">
                <a:solidFill>
                  <a:srgbClr val="9FB1DA"/>
                </a:solidFill>
                <a:latin typeface="Calibri"/>
              </a:rPr>
              <a:t>Connect4GNN · Phương pháp 1, Phương pháp 2 và AlphaGateau</a:t>
            </a:r>
          </a:p>
        </p:txBody>
      </p:sp>
      <p:cxnSp>
        <p:nvCxnSpPr>
          <p:cNvPr id="5" name="Connector 4"/>
          <p:cNvCxnSpPr/>
          <p:nvPr/>
        </p:nvCxnSpPr>
        <p:spPr>
          <a:xfrm>
            <a:off x="7708392"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7708392"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708392"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708392"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7708392"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7708392"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08392"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08392"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708392"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7708392"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08392"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08392"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7708392"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708392"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08392"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708392"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708392"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708392"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08392"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08392"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708392"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311896"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311896"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8311896"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11896"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11896"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311896"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311896"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311896"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311896"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311896"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311896"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311896"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311896"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311896"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1896"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1896"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311896"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8311896"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311896"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311896"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311896"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15400"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915400"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915400"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915400"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915400"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915400"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915400"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915400"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915400"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915400"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915400"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8915400"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915400"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915400"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915400"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915400"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8915400"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915400"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915400"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15400"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915400"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518904"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518904"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518904"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518904"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518904"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9518904"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518904"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518904"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518904"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518904"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18904"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518904"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9518904"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9518904"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518904"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518904"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9518904"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9518904"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518904"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9518904"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518904"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122408"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122408"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122408"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122408"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122408"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122408"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122408"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122408"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122408"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122408"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122408"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122408"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122408"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122408"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122408"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122408"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0122408"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0122408"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122408"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0122408"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122408"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0725912" y="464515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0725912"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0725912"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0725912" y="4041648"/>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10725912"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10725912"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725912" y="4041648"/>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725912" y="3438144"/>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10725912"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10725912"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725912" y="3438144"/>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725912" y="2834640"/>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10725912"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0725912"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25912" y="2834640"/>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725912" y="2231136"/>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0725912"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0725912"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0725912" y="2231136"/>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0725912" y="1627632"/>
            <a:ext cx="603504" cy="0"/>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725912" y="1627632"/>
            <a:ext cx="603504"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1329416" y="4041648"/>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11329416" y="3438144"/>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11329416" y="2834640"/>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1329416" y="2231136"/>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11329416" y="1627632"/>
            <a:ext cx="0" cy="603504"/>
          </a:xfrm>
          <a:prstGeom prst="line">
            <a:avLst/>
          </a:prstGeom>
          <a:ln w="12700">
            <a:solidFill>
              <a:srgbClr val="3E5DA8"/>
            </a:solidFill>
          </a:ln>
        </p:spPr>
        <p:style>
          <a:lnRef idx="2">
            <a:schemeClr val="accent1"/>
          </a:lnRef>
          <a:fillRef idx="0">
            <a:schemeClr val="accent1"/>
          </a:fillRef>
          <a:effectRef idx="1">
            <a:schemeClr val="accent1"/>
          </a:effectRef>
          <a:fontRef idx="minor">
            <a:schemeClr val="tx1"/>
          </a:fontRef>
        </p:style>
      </p:cxnSp>
      <p:sp>
        <p:nvSpPr>
          <p:cNvPr id="136" name="Oval 135"/>
          <p:cNvSpPr/>
          <p:nvPr/>
        </p:nvSpPr>
        <p:spPr>
          <a:xfrm>
            <a:off x="7525512" y="446227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525512" y="3858768"/>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7525512"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7525512"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7525512"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7525512"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8129016" y="446227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129016" y="3858768"/>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8129016"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8129016"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8129016"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8129016"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8732520" y="4462272"/>
            <a:ext cx="365760" cy="365760"/>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8732520" y="3858768"/>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8732520"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8732520"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8732520"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8732520"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9336024" y="4462272"/>
            <a:ext cx="365760" cy="365760"/>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9336024" y="3858768"/>
            <a:ext cx="365760" cy="365760"/>
          </a:xfrm>
          <a:prstGeom prst="ellipse">
            <a:avLst/>
          </a:prstGeom>
          <a:solidFill>
            <a:srgbClr val="F2B705"/>
          </a:solidFill>
          <a:ln w="12700">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9336024" y="3255263"/>
            <a:ext cx="365760" cy="365760"/>
          </a:xfrm>
          <a:prstGeom prst="ellipse">
            <a:avLst/>
          </a:prstGeom>
          <a:solidFill>
            <a:srgbClr val="F2B705"/>
          </a:solidFill>
          <a:ln w="12700">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336024"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9336024"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9336024"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9939528" y="4462272"/>
            <a:ext cx="365760" cy="365760"/>
          </a:xfrm>
          <a:prstGeom prst="ellipse">
            <a:avLst/>
          </a:prstGeom>
          <a:solidFill>
            <a:srgbClr val="F2B705"/>
          </a:solidFill>
          <a:ln w="12700">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9939528" y="3858768"/>
            <a:ext cx="365760" cy="365760"/>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9939528"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9939528"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9939528"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9939528"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10543032" y="4462272"/>
            <a:ext cx="365760" cy="365760"/>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0543032" y="3858768"/>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0543032"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10543032"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10543032"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10543032"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11146536" y="446227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11146536" y="3858768"/>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11146536" y="3255263"/>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11146536" y="2651760"/>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11146536" y="2048255"/>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11146536" y="1444752"/>
            <a:ext cx="365760" cy="365760"/>
          </a:xfrm>
          <a:prstGeom prst="ellipse">
            <a:avLst/>
          </a:prstGeom>
          <a:solidFill>
            <a:srgbClr val="142C66"/>
          </a:solidFill>
          <a:ln w="12700">
            <a:solidFill>
              <a:srgbClr val="5672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KHỞI ĐỘNG</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Đồ thị chỉ là những chấm và dây nối</a:t>
            </a:r>
          </a:p>
        </p:txBody>
      </p:sp>
      <p:sp>
        <p:nvSpPr>
          <p:cNvPr id="4" name="Rounded Rectangle 3"/>
          <p:cNvSpPr/>
          <p:nvPr/>
        </p:nvSpPr>
        <p:spPr>
          <a:xfrm>
            <a:off x="548640" y="1600200"/>
            <a:ext cx="5029200" cy="470916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280160" y="2377440"/>
            <a:ext cx="1439774" cy="1174552"/>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3307488" y="2286000"/>
            <a:ext cx="1447392" cy="1256944"/>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97280" y="3991194"/>
            <a:ext cx="1590230" cy="946566"/>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3333551" y="4012972"/>
            <a:ext cx="1604209" cy="110766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3017520" y="4178808"/>
            <a:ext cx="0" cy="1581912"/>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097280" y="2377440"/>
            <a:ext cx="182880" cy="256032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05839" y="2103120"/>
            <a:ext cx="548640" cy="548640"/>
          </a:xfrm>
          <a:prstGeom prst="ellipse">
            <a:avLst/>
          </a:prstGeom>
          <a:solidFill>
            <a:srgbClr val="FFFFFF"/>
          </a:solidFill>
          <a:ln w="25400">
            <a:solidFill>
              <a:srgbClr val="1D3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0560" y="2011680"/>
            <a:ext cx="548640" cy="548640"/>
          </a:xfrm>
          <a:prstGeom prst="ellipse">
            <a:avLst/>
          </a:prstGeom>
          <a:solidFill>
            <a:srgbClr val="FFFFFF"/>
          </a:solidFill>
          <a:ln w="25400">
            <a:solidFill>
              <a:srgbClr val="1D3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4663440"/>
            <a:ext cx="548640" cy="548640"/>
          </a:xfrm>
          <a:prstGeom prst="ellipse">
            <a:avLst/>
          </a:prstGeom>
          <a:solidFill>
            <a:srgbClr val="FFFFFF"/>
          </a:solidFill>
          <a:ln w="25400">
            <a:solidFill>
              <a:srgbClr val="1D3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3440" y="4846320"/>
            <a:ext cx="548640" cy="548640"/>
          </a:xfrm>
          <a:prstGeom prst="ellipse">
            <a:avLst/>
          </a:prstGeom>
          <a:solidFill>
            <a:srgbClr val="FFFFFF"/>
          </a:solidFill>
          <a:ln w="25400">
            <a:solidFill>
              <a:srgbClr val="1D3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743200" y="5486400"/>
            <a:ext cx="548640" cy="548640"/>
          </a:xfrm>
          <a:prstGeom prst="ellipse">
            <a:avLst/>
          </a:prstGeom>
          <a:solidFill>
            <a:srgbClr val="FFFFFF"/>
          </a:solidFill>
          <a:ln w="25400">
            <a:solidFill>
              <a:srgbClr val="1D3F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674620" y="3451860"/>
            <a:ext cx="685800" cy="68580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3611880"/>
            <a:ext cx="1463040" cy="365760"/>
          </a:xfrm>
          <a:prstGeom prst="rect">
            <a:avLst/>
          </a:prstGeom>
          <a:noFill/>
        </p:spPr>
        <p:txBody>
          <a:bodyPr wrap="square" anchor="t" lIns="0" rIns="0" tIns="0" bIns="0">
            <a:spAutoFit/>
          </a:bodyPr>
          <a:lstStyle/>
          <a:p>
            <a:pPr algn="l"/>
            <a:r>
              <a:rPr sz="1600" b="1" i="0">
                <a:solidFill>
                  <a:srgbClr val="1D3F8C"/>
                </a:solidFill>
                <a:latin typeface="Calibri"/>
              </a:rPr>
              <a:t>nút</a:t>
            </a:r>
          </a:p>
        </p:txBody>
      </p:sp>
      <p:sp>
        <p:nvSpPr>
          <p:cNvPr id="18" name="TextBox 17"/>
          <p:cNvSpPr txBox="1"/>
          <p:nvPr/>
        </p:nvSpPr>
        <p:spPr>
          <a:xfrm>
            <a:off x="3200400" y="4709160"/>
            <a:ext cx="1645920" cy="365760"/>
          </a:xfrm>
          <a:prstGeom prst="rect">
            <a:avLst/>
          </a:prstGeom>
          <a:noFill/>
        </p:spPr>
        <p:txBody>
          <a:bodyPr wrap="square" anchor="t" lIns="0" rIns="0" tIns="0" bIns="0">
            <a:spAutoFit/>
          </a:bodyPr>
          <a:lstStyle/>
          <a:p>
            <a:pPr algn="l"/>
            <a:r>
              <a:rPr sz="1600" b="1" i="0">
                <a:solidFill>
                  <a:srgbClr val="0F8F7E"/>
                </a:solidFill>
                <a:latin typeface="Calibri"/>
              </a:rPr>
              <a:t>cạnh (dây)</a:t>
            </a:r>
          </a:p>
        </p:txBody>
      </p:sp>
      <p:sp>
        <p:nvSpPr>
          <p:cNvPr id="19" name="Oval 18"/>
          <p:cNvSpPr/>
          <p:nvPr/>
        </p:nvSpPr>
        <p:spPr>
          <a:xfrm>
            <a:off x="6263640" y="1783080"/>
            <a:ext cx="548640" cy="54864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20" name="TextBox 19"/>
          <p:cNvSpPr txBox="1"/>
          <p:nvPr/>
        </p:nvSpPr>
        <p:spPr>
          <a:xfrm>
            <a:off x="7040880" y="1737360"/>
            <a:ext cx="4572000" cy="365760"/>
          </a:xfrm>
          <a:prstGeom prst="rect">
            <a:avLst/>
          </a:prstGeom>
          <a:noFill/>
        </p:spPr>
        <p:txBody>
          <a:bodyPr wrap="square" anchor="t" lIns="0" rIns="0" tIns="0" bIns="0">
            <a:spAutoFit/>
          </a:bodyPr>
          <a:lstStyle/>
          <a:p>
            <a:pPr algn="l"/>
            <a:r>
              <a:rPr sz="1900" b="1" i="0">
                <a:solidFill>
                  <a:srgbClr val="1B2340"/>
                </a:solidFill>
                <a:latin typeface="Calibri"/>
              </a:rPr>
              <a:t>Nút (node)</a:t>
            </a:r>
          </a:p>
        </p:txBody>
      </p:sp>
      <p:sp>
        <p:nvSpPr>
          <p:cNvPr id="21" name="TextBox 20"/>
          <p:cNvSpPr txBox="1"/>
          <p:nvPr/>
        </p:nvSpPr>
        <p:spPr>
          <a:xfrm>
            <a:off x="7040880" y="2121408"/>
            <a:ext cx="4572000" cy="640080"/>
          </a:xfrm>
          <a:prstGeom prst="rect">
            <a:avLst/>
          </a:prstGeom>
          <a:noFill/>
        </p:spPr>
        <p:txBody>
          <a:bodyPr wrap="square" anchor="t" lIns="0" rIns="0" tIns="0" bIns="0">
            <a:spAutoFit/>
          </a:bodyPr>
          <a:lstStyle/>
          <a:p>
            <a:pPr algn="l"/>
            <a:r>
              <a:rPr sz="1600" b="0" i="0">
                <a:solidFill>
                  <a:srgbClr val="4A5468"/>
                </a:solidFill>
                <a:latin typeface="Calibri"/>
              </a:rPr>
              <a:t>Một “nhân vật” giữ thông tin của riêng nó.</a:t>
            </a:r>
          </a:p>
        </p:txBody>
      </p:sp>
      <p:sp>
        <p:nvSpPr>
          <p:cNvPr id="22" name="Oval 21"/>
          <p:cNvSpPr/>
          <p:nvPr/>
        </p:nvSpPr>
        <p:spPr>
          <a:xfrm>
            <a:off x="6263640" y="2971800"/>
            <a:ext cx="548640" cy="54864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23" name="TextBox 22"/>
          <p:cNvSpPr txBox="1"/>
          <p:nvPr/>
        </p:nvSpPr>
        <p:spPr>
          <a:xfrm>
            <a:off x="7040880" y="2926080"/>
            <a:ext cx="4572000" cy="365760"/>
          </a:xfrm>
          <a:prstGeom prst="rect">
            <a:avLst/>
          </a:prstGeom>
          <a:noFill/>
        </p:spPr>
        <p:txBody>
          <a:bodyPr wrap="square" anchor="t" lIns="0" rIns="0" tIns="0" bIns="0">
            <a:spAutoFit/>
          </a:bodyPr>
          <a:lstStyle/>
          <a:p>
            <a:pPr algn="l"/>
            <a:r>
              <a:rPr sz="1900" b="1" i="0">
                <a:solidFill>
                  <a:srgbClr val="1B2340"/>
                </a:solidFill>
                <a:latin typeface="Calibri"/>
              </a:rPr>
              <a:t>Cạnh (edge)</a:t>
            </a:r>
          </a:p>
        </p:txBody>
      </p:sp>
      <p:sp>
        <p:nvSpPr>
          <p:cNvPr id="24" name="TextBox 23"/>
          <p:cNvSpPr txBox="1"/>
          <p:nvPr/>
        </p:nvSpPr>
        <p:spPr>
          <a:xfrm>
            <a:off x="7040880" y="3310128"/>
            <a:ext cx="4572000" cy="640080"/>
          </a:xfrm>
          <a:prstGeom prst="rect">
            <a:avLst/>
          </a:prstGeom>
          <a:noFill/>
        </p:spPr>
        <p:txBody>
          <a:bodyPr wrap="square" anchor="t" lIns="0" rIns="0" tIns="0" bIns="0">
            <a:spAutoFit/>
          </a:bodyPr>
          <a:lstStyle/>
          <a:p>
            <a:pPr algn="l"/>
            <a:r>
              <a:rPr sz="1600" b="0" i="0">
                <a:solidFill>
                  <a:srgbClr val="4A5468"/>
                </a:solidFill>
                <a:latin typeface="Calibri"/>
              </a:rPr>
              <a:t>Hai nút được phép “nói chuyện” với nhau.</a:t>
            </a:r>
          </a:p>
        </p:txBody>
      </p:sp>
      <p:sp>
        <p:nvSpPr>
          <p:cNvPr id="25" name="Oval 24"/>
          <p:cNvSpPr/>
          <p:nvPr/>
        </p:nvSpPr>
        <p:spPr>
          <a:xfrm>
            <a:off x="6263640" y="4160520"/>
            <a:ext cx="548640" cy="54864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26" name="TextBox 25"/>
          <p:cNvSpPr txBox="1"/>
          <p:nvPr/>
        </p:nvSpPr>
        <p:spPr>
          <a:xfrm>
            <a:off x="7040880" y="4114800"/>
            <a:ext cx="4572000" cy="365760"/>
          </a:xfrm>
          <a:prstGeom prst="rect">
            <a:avLst/>
          </a:prstGeom>
          <a:noFill/>
        </p:spPr>
        <p:txBody>
          <a:bodyPr wrap="square" anchor="t" lIns="0" rIns="0" tIns="0" bIns="0">
            <a:spAutoFit/>
          </a:bodyPr>
          <a:lstStyle/>
          <a:p>
            <a:pPr algn="l"/>
            <a:r>
              <a:rPr sz="1900" b="1" i="0">
                <a:solidFill>
                  <a:srgbClr val="1B2340"/>
                </a:solidFill>
                <a:latin typeface="Calibri"/>
              </a:rPr>
              <a:t>GNN</a:t>
            </a:r>
          </a:p>
        </p:txBody>
      </p:sp>
      <p:sp>
        <p:nvSpPr>
          <p:cNvPr id="27" name="TextBox 26"/>
          <p:cNvSpPr txBox="1"/>
          <p:nvPr/>
        </p:nvSpPr>
        <p:spPr>
          <a:xfrm>
            <a:off x="7040880" y="4498848"/>
            <a:ext cx="4572000" cy="640080"/>
          </a:xfrm>
          <a:prstGeom prst="rect">
            <a:avLst/>
          </a:prstGeom>
          <a:noFill/>
        </p:spPr>
        <p:txBody>
          <a:bodyPr wrap="square" anchor="t" lIns="0" rIns="0" tIns="0" bIns="0">
            <a:spAutoFit/>
          </a:bodyPr>
          <a:lstStyle/>
          <a:p>
            <a:pPr algn="l"/>
            <a:r>
              <a:rPr sz="1600" b="0" i="0">
                <a:solidFill>
                  <a:srgbClr val="4A5468"/>
                </a:solidFill>
                <a:latin typeface="Calibri"/>
              </a:rPr>
              <a:t>Mỗi vòng, mọi nút nghe các nút nối với mình rồi cập nhật hiểu biết.</a:t>
            </a:r>
          </a:p>
        </p:txBody>
      </p:sp>
      <p:sp>
        <p:nvSpPr>
          <p:cNvPr id="28" name="TextBox 27"/>
          <p:cNvSpPr txBox="1"/>
          <p:nvPr/>
        </p:nvSpPr>
        <p:spPr>
          <a:xfrm>
            <a:off x="6263640" y="5349240"/>
            <a:ext cx="5394960" cy="822960"/>
          </a:xfrm>
          <a:prstGeom prst="rect">
            <a:avLst/>
          </a:prstGeom>
          <a:noFill/>
        </p:spPr>
        <p:txBody>
          <a:bodyPr wrap="square" anchor="t" lIns="0" rIns="0" tIns="0" bIns="0">
            <a:spAutoFit/>
          </a:bodyPr>
          <a:lstStyle/>
          <a:p>
            <a:pPr algn="l"/>
            <a:r>
              <a:rPr sz="1600" b="0" i="1">
                <a:solidFill>
                  <a:srgbClr val="1D3F8C"/>
                </a:solidFill>
                <a:latin typeface="Calibri"/>
              </a:rPr>
              <a:t>Giống một lớp học: mỗi bạn chỉ hỏi những bạn ngồi cạnh — sau vài vòng, cả lớp đều biết chuyện.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VÍ DỤ DÙNG XUYÊN SUỐT</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Cùng một thế cờ cho cả ba cách</a:t>
            </a:r>
          </a:p>
        </p:txBody>
      </p:sp>
      <p:sp>
        <p:nvSpPr>
          <p:cNvPr id="4" name="Rounded Rectangle 3"/>
          <p:cNvSpPr/>
          <p:nvPr/>
        </p:nvSpPr>
        <p:spPr>
          <a:xfrm>
            <a:off x="786384" y="1655064"/>
            <a:ext cx="5120640" cy="4425696"/>
          </a:xfrm>
          <a:prstGeom prst="roundRect">
            <a:avLst>
              <a:gd name="adj" fmla="val 5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90843" y="5334243"/>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90843" y="4639299"/>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90843"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90843"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843"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90843"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85787" y="5334243"/>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85787" y="4639299"/>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85787"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85787"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85787"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685787"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80731" y="5334243"/>
            <a:ext cx="542056" cy="54205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80731" y="4639299"/>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380731"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2380731"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380731"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380731"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75675" y="5334243"/>
            <a:ext cx="542056" cy="54205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075675" y="4639299"/>
            <a:ext cx="542056" cy="542056"/>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75675" y="3944355"/>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075675"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075675"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75675"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70619" y="5334243"/>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70619" y="4639299"/>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770619"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770619"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770619"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70619"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65563" y="5334243"/>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465563" y="4639299"/>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65563"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465563"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465563"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65563"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160507" y="5334243"/>
            <a:ext cx="542056" cy="542056"/>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60507" y="4639299"/>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60507" y="3944355"/>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160507" y="3249411"/>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160507" y="2554467"/>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160507" y="1859523"/>
            <a:ext cx="542056" cy="542056"/>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7551"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0</a:t>
            </a:r>
          </a:p>
        </p:txBody>
      </p:sp>
      <p:sp>
        <p:nvSpPr>
          <p:cNvPr id="48" name="TextBox 47"/>
          <p:cNvSpPr txBox="1"/>
          <p:nvPr/>
        </p:nvSpPr>
        <p:spPr>
          <a:xfrm>
            <a:off x="1682496"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1</a:t>
            </a:r>
          </a:p>
        </p:txBody>
      </p:sp>
      <p:sp>
        <p:nvSpPr>
          <p:cNvPr id="49" name="TextBox 48"/>
          <p:cNvSpPr txBox="1"/>
          <p:nvPr/>
        </p:nvSpPr>
        <p:spPr>
          <a:xfrm>
            <a:off x="2377440"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2</a:t>
            </a:r>
          </a:p>
        </p:txBody>
      </p:sp>
      <p:sp>
        <p:nvSpPr>
          <p:cNvPr id="50" name="TextBox 49"/>
          <p:cNvSpPr txBox="1"/>
          <p:nvPr/>
        </p:nvSpPr>
        <p:spPr>
          <a:xfrm>
            <a:off x="3072384"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3</a:t>
            </a:r>
          </a:p>
        </p:txBody>
      </p:sp>
      <p:sp>
        <p:nvSpPr>
          <p:cNvPr id="51" name="TextBox 50"/>
          <p:cNvSpPr txBox="1"/>
          <p:nvPr/>
        </p:nvSpPr>
        <p:spPr>
          <a:xfrm>
            <a:off x="3767328"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4</a:t>
            </a:r>
          </a:p>
        </p:txBody>
      </p:sp>
      <p:sp>
        <p:nvSpPr>
          <p:cNvPr id="52" name="TextBox 51"/>
          <p:cNvSpPr txBox="1"/>
          <p:nvPr/>
        </p:nvSpPr>
        <p:spPr>
          <a:xfrm>
            <a:off x="4462272"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5</a:t>
            </a:r>
          </a:p>
        </p:txBody>
      </p:sp>
      <p:sp>
        <p:nvSpPr>
          <p:cNvPr id="53" name="TextBox 52"/>
          <p:cNvSpPr txBox="1"/>
          <p:nvPr/>
        </p:nvSpPr>
        <p:spPr>
          <a:xfrm>
            <a:off x="5157216" y="6135624"/>
            <a:ext cx="548640" cy="274320"/>
          </a:xfrm>
          <a:prstGeom prst="rect">
            <a:avLst/>
          </a:prstGeom>
          <a:noFill/>
        </p:spPr>
        <p:txBody>
          <a:bodyPr wrap="square" anchor="t" lIns="0" rIns="0" tIns="0" bIns="0">
            <a:spAutoFit/>
          </a:bodyPr>
          <a:lstStyle/>
          <a:p>
            <a:pPr algn="ctr"/>
            <a:r>
              <a:rPr sz="1100" b="0" i="0">
                <a:solidFill>
                  <a:srgbClr val="4A5468"/>
                </a:solidFill>
                <a:latin typeface="Calibri"/>
              </a:rPr>
              <a:t>cột 6</a:t>
            </a:r>
          </a:p>
        </p:txBody>
      </p:sp>
      <p:sp>
        <p:nvSpPr>
          <p:cNvPr id="54" name="Oval 53"/>
          <p:cNvSpPr/>
          <p:nvPr/>
        </p:nvSpPr>
        <p:spPr>
          <a:xfrm>
            <a:off x="6757416" y="2002536"/>
            <a:ext cx="384048" cy="384048"/>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60920" y="1920240"/>
            <a:ext cx="4297680" cy="548640"/>
          </a:xfrm>
          <a:prstGeom prst="rect">
            <a:avLst/>
          </a:prstGeom>
          <a:noFill/>
        </p:spPr>
        <p:txBody>
          <a:bodyPr wrap="square" anchor="ctr" lIns="0" rIns="0" tIns="0" bIns="0">
            <a:spAutoFit/>
          </a:bodyPr>
          <a:lstStyle/>
          <a:p>
            <a:pPr algn="l"/>
            <a:r>
              <a:rPr sz="1700" b="0" i="0">
                <a:solidFill>
                  <a:srgbClr val="1B2340"/>
                </a:solidFill>
                <a:latin typeface="Calibri"/>
              </a:rPr>
              <a:t>Quân đỏ: quân của bên sắp đi</a:t>
            </a:r>
          </a:p>
        </p:txBody>
      </p:sp>
      <p:sp>
        <p:nvSpPr>
          <p:cNvPr id="56" name="Oval 55"/>
          <p:cNvSpPr/>
          <p:nvPr/>
        </p:nvSpPr>
        <p:spPr>
          <a:xfrm>
            <a:off x="6757416" y="2688336"/>
            <a:ext cx="384048" cy="384048"/>
          </a:xfrm>
          <a:prstGeom prst="ellipse">
            <a:avLst/>
          </a:prstGeom>
          <a:solidFill>
            <a:srgbClr val="F2B705"/>
          </a:solidFill>
          <a:ln w="12700">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60920" y="2606040"/>
            <a:ext cx="4297680" cy="548640"/>
          </a:xfrm>
          <a:prstGeom prst="rect">
            <a:avLst/>
          </a:prstGeom>
          <a:noFill/>
        </p:spPr>
        <p:txBody>
          <a:bodyPr wrap="square" anchor="ctr" lIns="0" rIns="0" tIns="0" bIns="0">
            <a:spAutoFit/>
          </a:bodyPr>
          <a:lstStyle/>
          <a:p>
            <a:pPr algn="l"/>
            <a:r>
              <a:rPr sz="1700" b="0" i="0">
                <a:solidFill>
                  <a:srgbClr val="1B2340"/>
                </a:solidFill>
                <a:latin typeface="Calibri"/>
              </a:rPr>
              <a:t>Quân vàng: quân của đối thủ</a:t>
            </a:r>
          </a:p>
        </p:txBody>
      </p:sp>
      <p:sp>
        <p:nvSpPr>
          <p:cNvPr id="58" name="Oval 57"/>
          <p:cNvSpPr/>
          <p:nvPr/>
        </p:nvSpPr>
        <p:spPr>
          <a:xfrm>
            <a:off x="6757416" y="3374136"/>
            <a:ext cx="384048" cy="384048"/>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60920" y="3291840"/>
            <a:ext cx="4297680" cy="548640"/>
          </a:xfrm>
          <a:prstGeom prst="rect">
            <a:avLst/>
          </a:prstGeom>
          <a:noFill/>
        </p:spPr>
        <p:txBody>
          <a:bodyPr wrap="square" anchor="ctr" lIns="0" rIns="0" tIns="0" bIns="0">
            <a:spAutoFit/>
          </a:bodyPr>
          <a:lstStyle/>
          <a:p>
            <a:pPr algn="l"/>
            <a:r>
              <a:rPr sz="1700" b="0" i="0">
                <a:solidFill>
                  <a:srgbClr val="1B2340"/>
                </a:solidFill>
                <a:latin typeface="Calibri"/>
              </a:rPr>
              <a:t>Vòng nét đứt: ô mà quân tiếp theo sẽ rơi vào (mỗi cột đúng 1 ô)</a:t>
            </a:r>
          </a:p>
        </p:txBody>
      </p:sp>
      <p:sp>
        <p:nvSpPr>
          <p:cNvPr id="60" name="Rounded Rectangle 59"/>
          <p:cNvSpPr/>
          <p:nvPr/>
        </p:nvSpPr>
        <p:spPr>
          <a:xfrm>
            <a:off x="6675120" y="4206240"/>
            <a:ext cx="4983480" cy="12344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949440" y="4370832"/>
            <a:ext cx="4480560" cy="1005840"/>
          </a:xfrm>
          <a:prstGeom prst="rect">
            <a:avLst/>
          </a:prstGeom>
          <a:noFill/>
        </p:spPr>
        <p:txBody>
          <a:bodyPr wrap="square" anchor="t" lIns="0" rIns="0" tIns="0" bIns="0">
            <a:spAutoFit/>
          </a:bodyPr>
          <a:lstStyle/>
          <a:p>
            <a:pPr algn="l"/>
            <a:r>
              <a:rPr sz="1600" b="1" i="0">
                <a:solidFill>
                  <a:srgbClr val="1D3F8C"/>
                </a:solidFill>
                <a:latin typeface="Calibri"/>
              </a:rPr>
              <a:t>Lưu ý: </a:t>
            </a:r>
            <a:r>
              <a:rPr sz="1600" b="0" i="0">
                <a:solidFill>
                  <a:srgbClr val="1B2340"/>
                </a:solidFill>
                <a:latin typeface="Calibri"/>
              </a:rPr>
              <a:t>Connect 4 chỉ có 7 nước đi — “thả quân vào cột 0…6”. Quân luôn rơi xuống ô thấp nhất còn trống.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CÁCH ĐỌC PHẦN TIẾP THEO</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Mỗi cách đều trả lời ba câu hỏi</a:t>
            </a:r>
          </a:p>
        </p:txBody>
      </p:sp>
      <p:sp>
        <p:nvSpPr>
          <p:cNvPr id="4" name="Rounded Rectangle 3"/>
          <p:cNvSpPr/>
          <p:nvPr/>
        </p:nvSpPr>
        <p:spPr>
          <a:xfrm>
            <a:off x="548640" y="1691640"/>
            <a:ext cx="3520440" cy="30175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965960"/>
            <a:ext cx="822960" cy="82296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libri"/>
              </a:rPr>
              <a:t>1</a:t>
            </a:r>
          </a:p>
        </p:txBody>
      </p:sp>
      <p:sp>
        <p:nvSpPr>
          <p:cNvPr id="6" name="TextBox 5"/>
          <p:cNvSpPr txBox="1"/>
          <p:nvPr/>
        </p:nvSpPr>
        <p:spPr>
          <a:xfrm>
            <a:off x="868680" y="2971800"/>
            <a:ext cx="2926080" cy="457200"/>
          </a:xfrm>
          <a:prstGeom prst="rect">
            <a:avLst/>
          </a:prstGeom>
          <a:noFill/>
        </p:spPr>
        <p:txBody>
          <a:bodyPr wrap="square" anchor="t" lIns="0" rIns="0" tIns="0" bIns="0">
            <a:spAutoFit/>
          </a:bodyPr>
          <a:lstStyle/>
          <a:p>
            <a:pPr algn="l"/>
            <a:r>
              <a:rPr sz="1900" b="1" i="0">
                <a:solidFill>
                  <a:srgbClr val="1B2340"/>
                </a:solidFill>
                <a:latin typeface="Calibri"/>
              </a:rPr>
              <a:t>Cái gì là nút?</a:t>
            </a:r>
          </a:p>
        </p:txBody>
      </p:sp>
      <p:sp>
        <p:nvSpPr>
          <p:cNvPr id="7" name="TextBox 6"/>
          <p:cNvSpPr txBox="1"/>
          <p:nvPr/>
        </p:nvSpPr>
        <p:spPr>
          <a:xfrm>
            <a:off x="868680" y="3474720"/>
            <a:ext cx="2926080" cy="1188720"/>
          </a:xfrm>
          <a:prstGeom prst="rect">
            <a:avLst/>
          </a:prstGeom>
          <a:noFill/>
        </p:spPr>
        <p:txBody>
          <a:bodyPr wrap="square" anchor="t" lIns="0" rIns="0" tIns="0" bIns="0">
            <a:spAutoFit/>
          </a:bodyPr>
          <a:lstStyle/>
          <a:p>
            <a:pPr algn="l"/>
            <a:r>
              <a:rPr sz="1500" b="0" i="0">
                <a:solidFill>
                  <a:srgbClr val="4A5468"/>
                </a:solidFill>
                <a:latin typeface="Calibri"/>
              </a:rPr>
              <a:t>Mọi ô? Chỉ ô có quân? Hay còn thêm nút khác?</a:t>
            </a:r>
          </a:p>
        </p:txBody>
      </p:sp>
      <p:sp>
        <p:nvSpPr>
          <p:cNvPr id="8" name="Rounded Rectangle 7"/>
          <p:cNvSpPr/>
          <p:nvPr/>
        </p:nvSpPr>
        <p:spPr>
          <a:xfrm>
            <a:off x="4343400" y="1691640"/>
            <a:ext cx="3520440" cy="30175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17720" y="1965960"/>
            <a:ext cx="822960" cy="82296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libri"/>
              </a:rPr>
              <a:t>2</a:t>
            </a:r>
          </a:p>
        </p:txBody>
      </p:sp>
      <p:sp>
        <p:nvSpPr>
          <p:cNvPr id="10" name="TextBox 9"/>
          <p:cNvSpPr txBox="1"/>
          <p:nvPr/>
        </p:nvSpPr>
        <p:spPr>
          <a:xfrm>
            <a:off x="4663440" y="2971800"/>
            <a:ext cx="2926080" cy="457200"/>
          </a:xfrm>
          <a:prstGeom prst="rect">
            <a:avLst/>
          </a:prstGeom>
          <a:noFill/>
        </p:spPr>
        <p:txBody>
          <a:bodyPr wrap="square" anchor="t" lIns="0" rIns="0" tIns="0" bIns="0">
            <a:spAutoFit/>
          </a:bodyPr>
          <a:lstStyle/>
          <a:p>
            <a:pPr algn="l"/>
            <a:r>
              <a:rPr sz="1900" b="1" i="0">
                <a:solidFill>
                  <a:srgbClr val="1B2340"/>
                </a:solidFill>
                <a:latin typeface="Calibri"/>
              </a:rPr>
              <a:t>Nút nào nối với nút nào?</a:t>
            </a:r>
          </a:p>
        </p:txBody>
      </p:sp>
      <p:sp>
        <p:nvSpPr>
          <p:cNvPr id="11" name="TextBox 10"/>
          <p:cNvSpPr txBox="1"/>
          <p:nvPr/>
        </p:nvSpPr>
        <p:spPr>
          <a:xfrm>
            <a:off x="4663440" y="3474720"/>
            <a:ext cx="2926080" cy="1188720"/>
          </a:xfrm>
          <a:prstGeom prst="rect">
            <a:avLst/>
          </a:prstGeom>
          <a:noFill/>
        </p:spPr>
        <p:txBody>
          <a:bodyPr wrap="square" anchor="t" lIns="0" rIns="0" tIns="0" bIns="0">
            <a:spAutoFit/>
          </a:bodyPr>
          <a:lstStyle/>
          <a:p>
            <a:pPr algn="l"/>
            <a:r>
              <a:rPr sz="1500" b="0" i="0">
                <a:solidFill>
                  <a:srgbClr val="4A5468"/>
                </a:solidFill>
                <a:latin typeface="Calibri"/>
              </a:rPr>
              <a:t>Chỉ hàng xóm sát bên, hay nối xa hơn? Dây có mang thông tin không?</a:t>
            </a:r>
          </a:p>
        </p:txBody>
      </p:sp>
      <p:sp>
        <p:nvSpPr>
          <p:cNvPr id="12" name="Rounded Rectangle 11"/>
          <p:cNvSpPr/>
          <p:nvPr/>
        </p:nvSpPr>
        <p:spPr>
          <a:xfrm>
            <a:off x="8138160" y="1691640"/>
            <a:ext cx="3520440" cy="30175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2480" y="1965960"/>
            <a:ext cx="822960" cy="82296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Calibri"/>
              </a:rPr>
              <a:t>3</a:t>
            </a:r>
          </a:p>
        </p:txBody>
      </p:sp>
      <p:sp>
        <p:nvSpPr>
          <p:cNvPr id="14" name="TextBox 13"/>
          <p:cNvSpPr txBox="1"/>
          <p:nvPr/>
        </p:nvSpPr>
        <p:spPr>
          <a:xfrm>
            <a:off x="8458200" y="2971800"/>
            <a:ext cx="2926080" cy="457200"/>
          </a:xfrm>
          <a:prstGeom prst="rect">
            <a:avLst/>
          </a:prstGeom>
          <a:noFill/>
        </p:spPr>
        <p:txBody>
          <a:bodyPr wrap="square" anchor="t" lIns="0" rIns="0" tIns="0" bIns="0">
            <a:spAutoFit/>
          </a:bodyPr>
          <a:lstStyle/>
          <a:p>
            <a:pPr algn="l"/>
            <a:r>
              <a:rPr sz="1900" b="1" i="0">
                <a:solidFill>
                  <a:srgbClr val="1B2340"/>
                </a:solidFill>
                <a:latin typeface="Calibri"/>
              </a:rPr>
              <a:t>Nước đi được đọc ở đâu?</a:t>
            </a:r>
          </a:p>
        </p:txBody>
      </p:sp>
      <p:sp>
        <p:nvSpPr>
          <p:cNvPr id="15" name="TextBox 14"/>
          <p:cNvSpPr txBox="1"/>
          <p:nvPr/>
        </p:nvSpPr>
        <p:spPr>
          <a:xfrm>
            <a:off x="8458200" y="3474720"/>
            <a:ext cx="2926080" cy="1188720"/>
          </a:xfrm>
          <a:prstGeom prst="rect">
            <a:avLst/>
          </a:prstGeom>
          <a:noFill/>
        </p:spPr>
        <p:txBody>
          <a:bodyPr wrap="square" anchor="t" lIns="0" rIns="0" tIns="0" bIns="0">
            <a:spAutoFit/>
          </a:bodyPr>
          <a:lstStyle/>
          <a:p>
            <a:pPr algn="l"/>
            <a:r>
              <a:rPr sz="1500" b="0" i="0">
                <a:solidFill>
                  <a:srgbClr val="4A5468"/>
                </a:solidFill>
                <a:latin typeface="Calibri"/>
              </a:rPr>
              <a:t>Mạng phải chấm điểm 7 nước đi — điểm đó lấy từ nút hay từ dây?</a:t>
            </a:r>
          </a:p>
        </p:txBody>
      </p:sp>
      <p:sp>
        <p:nvSpPr>
          <p:cNvPr id="16" name="Rounded Rectangle 15"/>
          <p:cNvSpPr/>
          <p:nvPr/>
        </p:nvSpPr>
        <p:spPr>
          <a:xfrm>
            <a:off x="548640" y="5074920"/>
            <a:ext cx="3520440" cy="1051560"/>
          </a:xfrm>
          <a:prstGeom prst="roundRect">
            <a:avLst>
              <a:gd name="adj" fmla="val 8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5193792"/>
            <a:ext cx="3017520" cy="365760"/>
          </a:xfrm>
          <a:prstGeom prst="rect">
            <a:avLst/>
          </a:prstGeom>
          <a:noFill/>
        </p:spPr>
        <p:txBody>
          <a:bodyPr wrap="square" anchor="t" lIns="0" rIns="0" tIns="0" bIns="0">
            <a:spAutoFit/>
          </a:bodyPr>
          <a:lstStyle/>
          <a:p>
            <a:pPr algn="l"/>
            <a:r>
              <a:rPr sz="1800" b="1" i="0">
                <a:solidFill>
                  <a:srgbClr val="FFFFFF"/>
                </a:solidFill>
                <a:latin typeface="Calibri"/>
              </a:rPr>
              <a:t>Phương pháp 2</a:t>
            </a:r>
          </a:p>
        </p:txBody>
      </p:sp>
      <p:sp>
        <p:nvSpPr>
          <p:cNvPr id="18" name="TextBox 17"/>
          <p:cNvSpPr txBox="1"/>
          <p:nvPr/>
        </p:nvSpPr>
        <p:spPr>
          <a:xfrm>
            <a:off x="822959" y="5577840"/>
            <a:ext cx="3017520" cy="365760"/>
          </a:xfrm>
          <a:prstGeom prst="rect">
            <a:avLst/>
          </a:prstGeom>
          <a:noFill/>
        </p:spPr>
        <p:txBody>
          <a:bodyPr wrap="square" anchor="t" lIns="0" rIns="0" tIns="0" bIns="0">
            <a:spAutoFit/>
          </a:bodyPr>
          <a:lstStyle/>
          <a:p>
            <a:pPr algn="l"/>
            <a:r>
              <a:rPr sz="1500" b="0" i="0">
                <a:solidFill>
                  <a:srgbClr val="FFFFFF"/>
                </a:solidFill>
                <a:latin typeface="Calibri"/>
              </a:rPr>
              <a:t>Lưới cố định</a:t>
            </a:r>
          </a:p>
        </p:txBody>
      </p:sp>
      <p:sp>
        <p:nvSpPr>
          <p:cNvPr id="19" name="Rounded Rectangle 18"/>
          <p:cNvSpPr/>
          <p:nvPr/>
        </p:nvSpPr>
        <p:spPr>
          <a:xfrm>
            <a:off x="4343400" y="5074920"/>
            <a:ext cx="3520440" cy="1051560"/>
          </a:xfrm>
          <a:prstGeom prst="roundRect">
            <a:avLst>
              <a:gd name="adj" fmla="val 8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5193792"/>
            <a:ext cx="3017520" cy="365760"/>
          </a:xfrm>
          <a:prstGeom prst="rect">
            <a:avLst/>
          </a:prstGeom>
          <a:noFill/>
        </p:spPr>
        <p:txBody>
          <a:bodyPr wrap="square" anchor="t" lIns="0" rIns="0" tIns="0" bIns="0">
            <a:spAutoFit/>
          </a:bodyPr>
          <a:lstStyle/>
          <a:p>
            <a:pPr algn="l"/>
            <a:r>
              <a:rPr sz="1800" b="1" i="0">
                <a:solidFill>
                  <a:srgbClr val="FFFFFF"/>
                </a:solidFill>
                <a:latin typeface="Calibri"/>
              </a:rPr>
              <a:t>Phương pháp 1</a:t>
            </a:r>
          </a:p>
        </p:txBody>
      </p:sp>
      <p:sp>
        <p:nvSpPr>
          <p:cNvPr id="21" name="TextBox 20"/>
          <p:cNvSpPr txBox="1"/>
          <p:nvPr/>
        </p:nvSpPr>
        <p:spPr>
          <a:xfrm>
            <a:off x="4617720" y="5577840"/>
            <a:ext cx="3017520" cy="365760"/>
          </a:xfrm>
          <a:prstGeom prst="rect">
            <a:avLst/>
          </a:prstGeom>
          <a:noFill/>
        </p:spPr>
        <p:txBody>
          <a:bodyPr wrap="square" anchor="t" lIns="0" rIns="0" tIns="0" bIns="0">
            <a:spAutoFit/>
          </a:bodyPr>
          <a:lstStyle/>
          <a:p>
            <a:pPr algn="l"/>
            <a:r>
              <a:rPr sz="1500" b="0" i="0">
                <a:solidFill>
                  <a:srgbClr val="FFFFFF"/>
                </a:solidFill>
                <a:latin typeface="Calibri"/>
              </a:rPr>
              <a:t>Đồ thị động</a:t>
            </a:r>
          </a:p>
        </p:txBody>
      </p:sp>
      <p:sp>
        <p:nvSpPr>
          <p:cNvPr id="22" name="Rounded Rectangle 21"/>
          <p:cNvSpPr/>
          <p:nvPr/>
        </p:nvSpPr>
        <p:spPr>
          <a:xfrm>
            <a:off x="8138160" y="5074920"/>
            <a:ext cx="3520440" cy="1051560"/>
          </a:xfrm>
          <a:prstGeom prst="roundRect">
            <a:avLst>
              <a:gd name="adj" fmla="val 8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5193792"/>
            <a:ext cx="3017520" cy="365760"/>
          </a:xfrm>
          <a:prstGeom prst="rect">
            <a:avLst/>
          </a:prstGeom>
          <a:noFill/>
        </p:spPr>
        <p:txBody>
          <a:bodyPr wrap="square" anchor="t" lIns="0" rIns="0" tIns="0" bIns="0">
            <a:spAutoFit/>
          </a:bodyPr>
          <a:lstStyle/>
          <a:p>
            <a:pPr algn="l"/>
            <a:r>
              <a:rPr sz="1800" b="1" i="0">
                <a:solidFill>
                  <a:srgbClr val="FFFFFF"/>
                </a:solidFill>
                <a:latin typeface="Calibri"/>
              </a:rPr>
              <a:t>AlphaGateau</a:t>
            </a:r>
          </a:p>
        </p:txBody>
      </p:sp>
      <p:sp>
        <p:nvSpPr>
          <p:cNvPr id="24" name="TextBox 23"/>
          <p:cNvSpPr txBox="1"/>
          <p:nvPr/>
        </p:nvSpPr>
        <p:spPr>
          <a:xfrm>
            <a:off x="8412480" y="5577840"/>
            <a:ext cx="3017520" cy="365760"/>
          </a:xfrm>
          <a:prstGeom prst="rect">
            <a:avLst/>
          </a:prstGeom>
          <a:noFill/>
        </p:spPr>
        <p:txBody>
          <a:bodyPr wrap="square" anchor="t" lIns="0" rIns="0" tIns="0" bIns="0">
            <a:spAutoFit/>
          </a:bodyPr>
          <a:lstStyle/>
          <a:p>
            <a:pPr algn="l"/>
            <a:r>
              <a:rPr sz="1500" b="0" i="0">
                <a:solidFill>
                  <a:srgbClr val="FFFFFF"/>
                </a:solidFill>
                <a:latin typeface="Calibri"/>
              </a:rPr>
              <a:t>Cờ vua → Connect 4</a:t>
            </a:r>
          </a:p>
        </p:txBody>
      </p:sp>
      <p:sp>
        <p:nvSpPr>
          <p:cNvPr id="25" name="TextBox 24"/>
          <p:cNvSpPr txBox="1"/>
          <p:nvPr/>
        </p:nvSpPr>
        <p:spPr>
          <a:xfrm>
            <a:off x="4050792" y="5349240"/>
            <a:ext cx="310896" cy="457200"/>
          </a:xfrm>
          <a:prstGeom prst="rect">
            <a:avLst/>
          </a:prstGeom>
          <a:noFill/>
        </p:spPr>
        <p:txBody>
          <a:bodyPr wrap="square" anchor="t" lIns="0" rIns="0" tIns="0" bIns="0">
            <a:spAutoFit/>
          </a:bodyPr>
          <a:lstStyle/>
          <a:p>
            <a:pPr algn="ctr"/>
            <a:r>
              <a:rPr sz="3000" b="1" i="0">
                <a:solidFill>
                  <a:srgbClr val="B4BCCB"/>
                </a:solidFill>
                <a:latin typeface="Calibri"/>
              </a:rPr>
              <a:t>›</a:t>
            </a:r>
          </a:p>
        </p:txBody>
      </p:sp>
      <p:sp>
        <p:nvSpPr>
          <p:cNvPr id="26" name="TextBox 25"/>
          <p:cNvSpPr txBox="1"/>
          <p:nvPr/>
        </p:nvSpPr>
        <p:spPr>
          <a:xfrm>
            <a:off x="7845552" y="5349240"/>
            <a:ext cx="310896" cy="457200"/>
          </a:xfrm>
          <a:prstGeom prst="rect">
            <a:avLst/>
          </a:prstGeom>
          <a:noFill/>
        </p:spPr>
        <p:txBody>
          <a:bodyPr wrap="square" anchor="t" lIns="0" rIns="0" tIns="0" bIns="0">
            <a:spAutoFit/>
          </a:bodyPr>
          <a:lstStyle/>
          <a:p>
            <a:pPr algn="ctr"/>
            <a:r>
              <a:rPr sz="3000" b="1" i="0">
                <a:solidFill>
                  <a:srgbClr val="B4BCCB"/>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PHƯƠNG PHÁP 2 · LƯỚI CỐ ĐỊNH</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Mỗi ô là một nút, nối với 8 ô xung quanh</a:t>
            </a:r>
          </a:p>
        </p:txBody>
      </p:sp>
      <p:sp>
        <p:nvSpPr>
          <p:cNvPr id="4" name="Rounded Rectangle 3"/>
          <p:cNvSpPr/>
          <p:nvPr/>
        </p:nvSpPr>
        <p:spPr>
          <a:xfrm>
            <a:off x="640080" y="1554480"/>
            <a:ext cx="5449824" cy="4736592"/>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225295" y="5705856"/>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225295"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225295" y="4992624"/>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225295" y="4992624"/>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225295"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225295" y="4279392"/>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25295" y="4992624"/>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25295" y="4279392"/>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225295"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225295" y="3566160"/>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225295" y="4279392"/>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225295" y="3566160"/>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25295"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225295" y="2852928"/>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25295" y="3566160"/>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25295" y="2852928"/>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225295"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225295" y="2139696"/>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25295" y="2852928"/>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25295" y="2139696"/>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25295" y="2139696"/>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938528" y="570585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938528"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938528"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938528" y="4992624"/>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938528"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938528"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938528"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938528" y="4279392"/>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938528"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938528"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38528"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938528" y="3566160"/>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938528"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938528"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938528"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938528" y="2852928"/>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938528"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938528"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938528"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938528" y="213969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938528"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651760" y="5705856"/>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2651760"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2651760" y="4992624"/>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651760" y="4992624"/>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2651760"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2651760" y="4279392"/>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651760" y="4992624"/>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651760" y="4279392"/>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651760"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2651760" y="3566160"/>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51760" y="4279392"/>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651760" y="3566160"/>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651760"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2651760" y="2852928"/>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2651760" y="3566160"/>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2651760" y="2852928"/>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651760"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2651760" y="2139696"/>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651760" y="2852928"/>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651760" y="2139696"/>
            <a:ext cx="713231"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651760" y="2139696"/>
            <a:ext cx="713231"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364991" y="5705856"/>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3364991"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3364991" y="4992624"/>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364991" y="4992624"/>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364991"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3364991" y="4279392"/>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364991" y="4992624"/>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3364991" y="4279392"/>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364991"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364991" y="3566160"/>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364991" y="4279392"/>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364991" y="3566160"/>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364991"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364991" y="2852928"/>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364991" y="3566160"/>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3364991" y="2852928"/>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364991"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364991" y="2139696"/>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3364991" y="2852928"/>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3364991" y="2139696"/>
            <a:ext cx="713233"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364991" y="2139696"/>
            <a:ext cx="713233"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078224" y="570585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4078224"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4078224"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078224" y="4992624"/>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4078224"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4078224"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4078224"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078224" y="4279392"/>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078224"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078224"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4078224"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4078224" y="3566160"/>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078224"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4078224"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4078224"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4078224" y="2852928"/>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78224"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078224"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4078224"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078224" y="213969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4078224"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791456" y="570585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4791456"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4791456"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791456" y="4992624"/>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4791456"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4791456"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4791456" y="4992624"/>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4791456" y="4279392"/>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4791456"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4791456"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4791456" y="4279392"/>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4791456" y="3566160"/>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4791456"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4791456"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4791456" y="3566160"/>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791456" y="2852928"/>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4791456"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91456"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4791456" y="2852928"/>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4791456" y="2139696"/>
            <a:ext cx="713232" cy="0"/>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4791456" y="2139696"/>
            <a:ext cx="713232"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5504688" y="4992624"/>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5504688" y="4279392"/>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5504688" y="3566160"/>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5504688" y="2852928"/>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5504688" y="2139696"/>
            <a:ext cx="0" cy="713232"/>
          </a:xfrm>
          <a:prstGeom prst="line">
            <a:avLst/>
          </a:prstGeom>
          <a:ln w="12700">
            <a:solidFill>
              <a:srgbClr val="C9D0DC"/>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4791456" y="4279392"/>
            <a:ext cx="713232" cy="0"/>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91456" y="3566160"/>
            <a:ext cx="0"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456" y="3566160"/>
            <a:ext cx="713232"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791456" y="4279392"/>
            <a:ext cx="713232"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4078224" y="4279392"/>
            <a:ext cx="713232" cy="0"/>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4791456" y="4279392"/>
            <a:ext cx="0"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4078224" y="4279392"/>
            <a:ext cx="713232"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flipV="1">
            <a:off x="4078224" y="3566160"/>
            <a:ext cx="713232" cy="713232"/>
          </a:xfrm>
          <a:prstGeom prst="line">
            <a:avLst/>
          </a:prstGeom>
          <a:ln w="44450">
            <a:solidFill>
              <a:srgbClr val="0F8F7E"/>
            </a:solidFill>
          </a:ln>
        </p:spPr>
        <p:style>
          <a:lnRef idx="2">
            <a:schemeClr val="accent1"/>
          </a:lnRef>
          <a:fillRef idx="0">
            <a:schemeClr val="accent1"/>
          </a:fillRef>
          <a:effectRef idx="1">
            <a:schemeClr val="accent1"/>
          </a:effectRef>
          <a:fontRef idx="minor">
            <a:schemeClr val="tx1"/>
          </a:fontRef>
        </p:style>
      </p:cxnSp>
      <p:sp>
        <p:nvSpPr>
          <p:cNvPr id="144" name="Oval 143"/>
          <p:cNvSpPr/>
          <p:nvPr/>
        </p:nvSpPr>
        <p:spPr>
          <a:xfrm>
            <a:off x="1046987"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046987" y="4814316"/>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1046987"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046987"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46987"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046987"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760220"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760220" y="4814316"/>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1760220"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760220"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760220"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760220"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2473452" y="5527548"/>
            <a:ext cx="356616" cy="35661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2473452" y="4814316"/>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2473452"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2473452"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2473452"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2473452"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3186684" y="5527548"/>
            <a:ext cx="356616" cy="35661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186684" y="4814316"/>
            <a:ext cx="356616" cy="356616"/>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186684" y="4101083"/>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3186684"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186684"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186684"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3899915"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899915" y="4814316"/>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3899915"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3899915"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899915"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899915"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4613148"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613148" y="4814316"/>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4613148"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4613148"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4613148"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613148"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5326380"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5326380" y="4814316"/>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5326380" y="4101083"/>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5326380" y="3387852"/>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5326380" y="2674620"/>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5326380" y="1961388"/>
            <a:ext cx="356616" cy="356616"/>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613148" y="4101083"/>
            <a:ext cx="356616" cy="356616"/>
          </a:xfrm>
          <a:prstGeom prst="ellipse">
            <a:avLst/>
          </a:prstGeom>
          <a:solidFill>
            <a:srgbClr val="FFFFFF"/>
          </a:solidFill>
          <a:ln w="44450">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ounded Rectangle 186"/>
          <p:cNvSpPr/>
          <p:nvPr/>
        </p:nvSpPr>
        <p:spPr>
          <a:xfrm>
            <a:off x="6720840" y="1600200"/>
            <a:ext cx="4937760" cy="12801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6903720" y="1783080"/>
            <a:ext cx="457200" cy="45720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189" name="TextBox 188"/>
          <p:cNvSpPr txBox="1"/>
          <p:nvPr/>
        </p:nvSpPr>
        <p:spPr>
          <a:xfrm>
            <a:off x="7543800" y="1783080"/>
            <a:ext cx="3931920" cy="365760"/>
          </a:xfrm>
          <a:prstGeom prst="rect">
            <a:avLst/>
          </a:prstGeom>
          <a:noFill/>
        </p:spPr>
        <p:txBody>
          <a:bodyPr wrap="square" anchor="t" lIns="0" rIns="0" tIns="0" bIns="0">
            <a:spAutoFit/>
          </a:bodyPr>
          <a:lstStyle/>
          <a:p>
            <a:pPr algn="l"/>
            <a:r>
              <a:rPr sz="1700" b="1" i="0">
                <a:solidFill>
                  <a:srgbClr val="1B2340"/>
                </a:solidFill>
                <a:latin typeface="Calibri"/>
              </a:rPr>
              <a:t>Nút: cả 42 ô</a:t>
            </a:r>
          </a:p>
        </p:txBody>
      </p:sp>
      <p:sp>
        <p:nvSpPr>
          <p:cNvPr id="190" name="TextBox 189"/>
          <p:cNvSpPr txBox="1"/>
          <p:nvPr/>
        </p:nvSpPr>
        <p:spPr>
          <a:xfrm>
            <a:off x="7543800" y="2130552"/>
            <a:ext cx="3931920" cy="658367"/>
          </a:xfrm>
          <a:prstGeom prst="rect">
            <a:avLst/>
          </a:prstGeom>
          <a:noFill/>
        </p:spPr>
        <p:txBody>
          <a:bodyPr wrap="square" anchor="t" lIns="0" rIns="0" tIns="0" bIns="0">
            <a:spAutoFit/>
          </a:bodyPr>
          <a:lstStyle/>
          <a:p>
            <a:pPr algn="l"/>
            <a:r>
              <a:rPr sz="1500" b="0" i="0">
                <a:solidFill>
                  <a:srgbClr val="4A5468"/>
                </a:solidFill>
                <a:latin typeface="Calibri"/>
              </a:rPr>
              <a:t>Ô trống cũng là nút — nó vẫn mang và truyền thông tin.</a:t>
            </a:r>
          </a:p>
        </p:txBody>
      </p:sp>
      <p:sp>
        <p:nvSpPr>
          <p:cNvPr id="191" name="Rounded Rectangle 190"/>
          <p:cNvSpPr/>
          <p:nvPr/>
        </p:nvSpPr>
        <p:spPr>
          <a:xfrm>
            <a:off x="6720840" y="3063240"/>
            <a:ext cx="4937760" cy="15087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6903720" y="3246120"/>
            <a:ext cx="457200" cy="45720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193" name="TextBox 192"/>
          <p:cNvSpPr txBox="1"/>
          <p:nvPr/>
        </p:nvSpPr>
        <p:spPr>
          <a:xfrm>
            <a:off x="7543800" y="3246120"/>
            <a:ext cx="3931920" cy="365760"/>
          </a:xfrm>
          <a:prstGeom prst="rect">
            <a:avLst/>
          </a:prstGeom>
          <a:noFill/>
        </p:spPr>
        <p:txBody>
          <a:bodyPr wrap="square" anchor="t" lIns="0" rIns="0" tIns="0" bIns="0">
            <a:spAutoFit/>
          </a:bodyPr>
          <a:lstStyle/>
          <a:p>
            <a:pPr algn="l"/>
            <a:r>
              <a:rPr sz="1700" b="1" i="0">
                <a:solidFill>
                  <a:srgbClr val="1B2340"/>
                </a:solidFill>
                <a:latin typeface="Calibri"/>
              </a:rPr>
              <a:t>Dây: 8 ô xung quanh</a:t>
            </a:r>
          </a:p>
        </p:txBody>
      </p:sp>
      <p:sp>
        <p:nvSpPr>
          <p:cNvPr id="194" name="TextBox 193"/>
          <p:cNvSpPr txBox="1"/>
          <p:nvPr/>
        </p:nvSpPr>
        <p:spPr>
          <a:xfrm>
            <a:off x="7543800" y="3593592"/>
            <a:ext cx="3931920" cy="886967"/>
          </a:xfrm>
          <a:prstGeom prst="rect">
            <a:avLst/>
          </a:prstGeom>
          <a:noFill/>
        </p:spPr>
        <p:txBody>
          <a:bodyPr wrap="square" anchor="t" lIns="0" rIns="0" tIns="0" bIns="0">
            <a:spAutoFit/>
          </a:bodyPr>
          <a:lstStyle/>
          <a:p>
            <a:pPr algn="l"/>
            <a:r>
              <a:rPr sz="1500" b="0" i="0">
                <a:solidFill>
                  <a:srgbClr val="4A5468"/>
                </a:solidFill>
                <a:latin typeface="Calibri"/>
              </a:rPr>
              <a:t>Ví dụ ô viền xanh nối 8 hàng xóm. Đồ thị giống hệt nhau ở mọi thế cờ, chỉ thông tin trong nút đổi.</a:t>
            </a:r>
          </a:p>
        </p:txBody>
      </p:sp>
      <p:sp>
        <p:nvSpPr>
          <p:cNvPr id="195" name="Rounded Rectangle 194"/>
          <p:cNvSpPr/>
          <p:nvPr/>
        </p:nvSpPr>
        <p:spPr>
          <a:xfrm>
            <a:off x="6720840" y="4754880"/>
            <a:ext cx="493776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6903720" y="4937760"/>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97" name="TextBox 196"/>
          <p:cNvSpPr txBox="1"/>
          <p:nvPr/>
        </p:nvSpPr>
        <p:spPr>
          <a:xfrm>
            <a:off x="7543800" y="4937760"/>
            <a:ext cx="3931920" cy="365760"/>
          </a:xfrm>
          <a:prstGeom prst="rect">
            <a:avLst/>
          </a:prstGeom>
          <a:noFill/>
        </p:spPr>
        <p:txBody>
          <a:bodyPr wrap="square" anchor="t" lIns="0" rIns="0" tIns="0" bIns="0">
            <a:spAutoFit/>
          </a:bodyPr>
          <a:lstStyle/>
          <a:p>
            <a:pPr algn="l"/>
            <a:r>
              <a:rPr sz="1700" b="1" i="0">
                <a:solidFill>
                  <a:srgbClr val="1B2340"/>
                </a:solidFill>
                <a:latin typeface="Calibri"/>
              </a:rPr>
              <a:t>Nước đi: đọc ở nút</a:t>
            </a:r>
          </a:p>
        </p:txBody>
      </p:sp>
      <p:sp>
        <p:nvSpPr>
          <p:cNvPr id="198" name="TextBox 197"/>
          <p:cNvSpPr txBox="1"/>
          <p:nvPr/>
        </p:nvSpPr>
        <p:spPr>
          <a:xfrm>
            <a:off x="7543800" y="5285232"/>
            <a:ext cx="3931920" cy="704087"/>
          </a:xfrm>
          <a:prstGeom prst="rect">
            <a:avLst/>
          </a:prstGeom>
          <a:noFill/>
        </p:spPr>
        <p:txBody>
          <a:bodyPr wrap="square" anchor="t" lIns="0" rIns="0" tIns="0" bIns="0">
            <a:spAutoFit/>
          </a:bodyPr>
          <a:lstStyle/>
          <a:p>
            <a:pPr algn="l"/>
            <a:r>
              <a:rPr sz="1500" b="0" i="0">
                <a:solidFill>
                  <a:srgbClr val="4A5468"/>
                </a:solidFill>
                <a:latin typeface="Calibri"/>
              </a:rPr>
              <a:t>Điểm của cột c lấy từ ô sẽ rơi vào của cột c (vòng nét đứt).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PHƯƠNG PHÁP 2 · LƯỚI CỐ ĐỊNH</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Mỗi nút biết 7 điều, và tin lan ra từng vòng</a:t>
            </a:r>
          </a:p>
        </p:txBody>
      </p:sp>
      <p:sp>
        <p:nvSpPr>
          <p:cNvPr id="4" name="Rounded Rectangle 3"/>
          <p:cNvSpPr/>
          <p:nvPr/>
        </p:nvSpPr>
        <p:spPr>
          <a:xfrm>
            <a:off x="548640" y="1600200"/>
            <a:ext cx="5394960" cy="466344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828799"/>
            <a:ext cx="548640" cy="548640"/>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874519"/>
            <a:ext cx="4206240" cy="457200"/>
          </a:xfrm>
          <a:prstGeom prst="rect">
            <a:avLst/>
          </a:prstGeom>
          <a:noFill/>
        </p:spPr>
        <p:txBody>
          <a:bodyPr wrap="square" anchor="t" lIns="0" rIns="0" tIns="0" bIns="0">
            <a:spAutoFit/>
          </a:bodyPr>
          <a:lstStyle/>
          <a:p>
            <a:pPr algn="l"/>
            <a:r>
              <a:rPr sz="1700" b="1" i="0">
                <a:solidFill>
                  <a:srgbClr val="1B2340"/>
                </a:solidFill>
                <a:latin typeface="Calibri"/>
              </a:rPr>
              <a:t>Ví dụ: ô cột 3, hàng 2</a:t>
            </a:r>
          </a:p>
        </p:txBody>
      </p:sp>
      <p:sp>
        <p:nvSpPr>
          <p:cNvPr id="7" name="Oval 6"/>
          <p:cNvSpPr/>
          <p:nvPr/>
        </p:nvSpPr>
        <p:spPr>
          <a:xfrm>
            <a:off x="941832" y="2697480"/>
            <a:ext cx="128016" cy="128016"/>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606040"/>
            <a:ext cx="2560320" cy="329184"/>
          </a:xfrm>
          <a:prstGeom prst="rect">
            <a:avLst/>
          </a:prstGeom>
          <a:noFill/>
        </p:spPr>
        <p:txBody>
          <a:bodyPr wrap="square" anchor="t" lIns="0" rIns="0" tIns="0" bIns="0">
            <a:spAutoFit/>
          </a:bodyPr>
          <a:lstStyle/>
          <a:p>
            <a:pPr algn="l"/>
            <a:r>
              <a:rPr sz="1600" b="0" i="0">
                <a:solidFill>
                  <a:srgbClr val="1B2340"/>
                </a:solidFill>
                <a:latin typeface="Calibri"/>
              </a:rPr>
              <a:t>Có quân mình?</a:t>
            </a:r>
          </a:p>
        </p:txBody>
      </p:sp>
      <p:sp>
        <p:nvSpPr>
          <p:cNvPr id="9" name="TextBox 8"/>
          <p:cNvSpPr txBox="1"/>
          <p:nvPr/>
        </p:nvSpPr>
        <p:spPr>
          <a:xfrm>
            <a:off x="3749039" y="2606040"/>
            <a:ext cx="2011680" cy="329184"/>
          </a:xfrm>
          <a:prstGeom prst="rect">
            <a:avLst/>
          </a:prstGeom>
          <a:noFill/>
        </p:spPr>
        <p:txBody>
          <a:bodyPr wrap="square" anchor="t" lIns="0" rIns="0" tIns="0" bIns="0">
            <a:spAutoFit/>
          </a:bodyPr>
          <a:lstStyle/>
          <a:p>
            <a:pPr algn="l"/>
            <a:r>
              <a:rPr sz="1600" b="1" i="0">
                <a:solidFill>
                  <a:srgbClr val="1D3F8C"/>
                </a:solidFill>
                <a:latin typeface="Calibri"/>
              </a:rPr>
              <a:t>không</a:t>
            </a:r>
          </a:p>
        </p:txBody>
      </p:sp>
      <p:sp>
        <p:nvSpPr>
          <p:cNvPr id="10" name="Oval 9"/>
          <p:cNvSpPr/>
          <p:nvPr/>
        </p:nvSpPr>
        <p:spPr>
          <a:xfrm>
            <a:off x="941832" y="3200400"/>
            <a:ext cx="128016" cy="128016"/>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108960"/>
            <a:ext cx="2560320" cy="329184"/>
          </a:xfrm>
          <a:prstGeom prst="rect">
            <a:avLst/>
          </a:prstGeom>
          <a:noFill/>
        </p:spPr>
        <p:txBody>
          <a:bodyPr wrap="square" anchor="t" lIns="0" rIns="0" tIns="0" bIns="0">
            <a:spAutoFit/>
          </a:bodyPr>
          <a:lstStyle/>
          <a:p>
            <a:pPr algn="l"/>
            <a:r>
              <a:rPr sz="1600" b="0" i="0">
                <a:solidFill>
                  <a:srgbClr val="1B2340"/>
                </a:solidFill>
                <a:latin typeface="Calibri"/>
              </a:rPr>
              <a:t>Có quân đối thủ?</a:t>
            </a:r>
          </a:p>
        </p:txBody>
      </p:sp>
      <p:sp>
        <p:nvSpPr>
          <p:cNvPr id="12" name="TextBox 11"/>
          <p:cNvSpPr txBox="1"/>
          <p:nvPr/>
        </p:nvSpPr>
        <p:spPr>
          <a:xfrm>
            <a:off x="3749039" y="3108960"/>
            <a:ext cx="2011680" cy="329184"/>
          </a:xfrm>
          <a:prstGeom prst="rect">
            <a:avLst/>
          </a:prstGeom>
          <a:noFill/>
        </p:spPr>
        <p:txBody>
          <a:bodyPr wrap="square" anchor="t" lIns="0" rIns="0" tIns="0" bIns="0">
            <a:spAutoFit/>
          </a:bodyPr>
          <a:lstStyle/>
          <a:p>
            <a:pPr algn="l"/>
            <a:r>
              <a:rPr sz="1600" b="1" i="0">
                <a:solidFill>
                  <a:srgbClr val="1D3F8C"/>
                </a:solidFill>
                <a:latin typeface="Calibri"/>
              </a:rPr>
              <a:t>không</a:t>
            </a:r>
          </a:p>
        </p:txBody>
      </p:sp>
      <p:sp>
        <p:nvSpPr>
          <p:cNvPr id="13" name="Oval 12"/>
          <p:cNvSpPr/>
          <p:nvPr/>
        </p:nvSpPr>
        <p:spPr>
          <a:xfrm>
            <a:off x="941832" y="3703320"/>
            <a:ext cx="128016" cy="128016"/>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34440" y="3611880"/>
            <a:ext cx="2560320" cy="329184"/>
          </a:xfrm>
          <a:prstGeom prst="rect">
            <a:avLst/>
          </a:prstGeom>
          <a:noFill/>
        </p:spPr>
        <p:txBody>
          <a:bodyPr wrap="square" anchor="t" lIns="0" rIns="0" tIns="0" bIns="0">
            <a:spAutoFit/>
          </a:bodyPr>
          <a:lstStyle/>
          <a:p>
            <a:pPr algn="l"/>
            <a:r>
              <a:rPr sz="1600" b="0" i="0">
                <a:solidFill>
                  <a:srgbClr val="1B2340"/>
                </a:solidFill>
                <a:latin typeface="Calibri"/>
              </a:rPr>
              <a:t>Là ô trống?</a:t>
            </a:r>
          </a:p>
        </p:txBody>
      </p:sp>
      <p:sp>
        <p:nvSpPr>
          <p:cNvPr id="15" name="TextBox 14"/>
          <p:cNvSpPr txBox="1"/>
          <p:nvPr/>
        </p:nvSpPr>
        <p:spPr>
          <a:xfrm>
            <a:off x="3749039" y="3611880"/>
            <a:ext cx="2011680" cy="329184"/>
          </a:xfrm>
          <a:prstGeom prst="rect">
            <a:avLst/>
          </a:prstGeom>
          <a:noFill/>
        </p:spPr>
        <p:txBody>
          <a:bodyPr wrap="square" anchor="t" lIns="0" rIns="0" tIns="0" bIns="0">
            <a:spAutoFit/>
          </a:bodyPr>
          <a:lstStyle/>
          <a:p>
            <a:pPr algn="l"/>
            <a:r>
              <a:rPr sz="1600" b="1" i="0">
                <a:solidFill>
                  <a:srgbClr val="1D3F8C"/>
                </a:solidFill>
                <a:latin typeface="Calibri"/>
              </a:rPr>
              <a:t>có</a:t>
            </a:r>
          </a:p>
        </p:txBody>
      </p:sp>
      <p:sp>
        <p:nvSpPr>
          <p:cNvPr id="16" name="Oval 15"/>
          <p:cNvSpPr/>
          <p:nvPr/>
        </p:nvSpPr>
        <p:spPr>
          <a:xfrm>
            <a:off x="941832" y="4206240"/>
            <a:ext cx="128016" cy="128016"/>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4114800"/>
            <a:ext cx="2560320" cy="329184"/>
          </a:xfrm>
          <a:prstGeom prst="rect">
            <a:avLst/>
          </a:prstGeom>
          <a:noFill/>
        </p:spPr>
        <p:txBody>
          <a:bodyPr wrap="square" anchor="t" lIns="0" rIns="0" tIns="0" bIns="0">
            <a:spAutoFit/>
          </a:bodyPr>
          <a:lstStyle/>
          <a:p>
            <a:pPr algn="l"/>
            <a:r>
              <a:rPr sz="1600" b="0" i="0">
                <a:solidFill>
                  <a:srgbClr val="1B2340"/>
                </a:solidFill>
                <a:latin typeface="Calibri"/>
              </a:rPr>
              <a:t>Đặt được ngay?</a:t>
            </a:r>
          </a:p>
        </p:txBody>
      </p:sp>
      <p:sp>
        <p:nvSpPr>
          <p:cNvPr id="18" name="TextBox 17"/>
          <p:cNvSpPr txBox="1"/>
          <p:nvPr/>
        </p:nvSpPr>
        <p:spPr>
          <a:xfrm>
            <a:off x="3749039" y="4114800"/>
            <a:ext cx="2011680" cy="329184"/>
          </a:xfrm>
          <a:prstGeom prst="rect">
            <a:avLst/>
          </a:prstGeom>
          <a:noFill/>
        </p:spPr>
        <p:txBody>
          <a:bodyPr wrap="square" anchor="t" lIns="0" rIns="0" tIns="0" bIns="0">
            <a:spAutoFit/>
          </a:bodyPr>
          <a:lstStyle/>
          <a:p>
            <a:pPr algn="l"/>
            <a:r>
              <a:rPr sz="1600" b="1" i="0">
                <a:solidFill>
                  <a:srgbClr val="1D3F8C"/>
                </a:solidFill>
                <a:latin typeface="Calibri"/>
              </a:rPr>
              <a:t>có</a:t>
            </a:r>
          </a:p>
        </p:txBody>
      </p:sp>
      <p:sp>
        <p:nvSpPr>
          <p:cNvPr id="19" name="Oval 18"/>
          <p:cNvSpPr/>
          <p:nvPr/>
        </p:nvSpPr>
        <p:spPr>
          <a:xfrm>
            <a:off x="941832" y="4709160"/>
            <a:ext cx="128016" cy="128016"/>
          </a:xfrm>
          <a:prstGeom prst="ellipse">
            <a:avLst/>
          </a:prstGeom>
          <a:solidFill>
            <a:srgbClr val="4A54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4617720"/>
            <a:ext cx="2560320" cy="329184"/>
          </a:xfrm>
          <a:prstGeom prst="rect">
            <a:avLst/>
          </a:prstGeom>
          <a:noFill/>
        </p:spPr>
        <p:txBody>
          <a:bodyPr wrap="square" anchor="t" lIns="0" rIns="0" tIns="0" bIns="0">
            <a:spAutoFit/>
          </a:bodyPr>
          <a:lstStyle/>
          <a:p>
            <a:pPr algn="l"/>
            <a:r>
              <a:rPr sz="1600" b="0" i="0">
                <a:solidFill>
                  <a:srgbClr val="1B2340"/>
                </a:solidFill>
                <a:latin typeface="Calibri"/>
              </a:rPr>
              <a:t>Cao bao nhiêu?</a:t>
            </a:r>
          </a:p>
        </p:txBody>
      </p:sp>
      <p:sp>
        <p:nvSpPr>
          <p:cNvPr id="21" name="TextBox 20"/>
          <p:cNvSpPr txBox="1"/>
          <p:nvPr/>
        </p:nvSpPr>
        <p:spPr>
          <a:xfrm>
            <a:off x="3749039" y="4617720"/>
            <a:ext cx="2011680" cy="329184"/>
          </a:xfrm>
          <a:prstGeom prst="rect">
            <a:avLst/>
          </a:prstGeom>
          <a:noFill/>
        </p:spPr>
        <p:txBody>
          <a:bodyPr wrap="square" anchor="t" lIns="0" rIns="0" tIns="0" bIns="0">
            <a:spAutoFit/>
          </a:bodyPr>
          <a:lstStyle/>
          <a:p>
            <a:pPr algn="l"/>
            <a:r>
              <a:rPr sz="1600" b="1" i="0">
                <a:solidFill>
                  <a:srgbClr val="1D3F8C"/>
                </a:solidFill>
                <a:latin typeface="Calibri"/>
              </a:rPr>
              <a:t>hàng 2 / 5</a:t>
            </a:r>
          </a:p>
        </p:txBody>
      </p:sp>
      <p:sp>
        <p:nvSpPr>
          <p:cNvPr id="22" name="Oval 21"/>
          <p:cNvSpPr/>
          <p:nvPr/>
        </p:nvSpPr>
        <p:spPr>
          <a:xfrm>
            <a:off x="941832" y="5212079"/>
            <a:ext cx="128016" cy="128016"/>
          </a:xfrm>
          <a:prstGeom prst="ellipse">
            <a:avLst/>
          </a:prstGeom>
          <a:solidFill>
            <a:srgbClr val="4A54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5120640"/>
            <a:ext cx="2560320" cy="329184"/>
          </a:xfrm>
          <a:prstGeom prst="rect">
            <a:avLst/>
          </a:prstGeom>
          <a:noFill/>
        </p:spPr>
        <p:txBody>
          <a:bodyPr wrap="square" anchor="t" lIns="0" rIns="0" tIns="0" bIns="0">
            <a:spAutoFit/>
          </a:bodyPr>
          <a:lstStyle/>
          <a:p>
            <a:pPr algn="l"/>
            <a:r>
              <a:rPr sz="1600" b="0" i="0">
                <a:solidFill>
                  <a:srgbClr val="1B2340"/>
                </a:solidFill>
                <a:latin typeface="Calibri"/>
              </a:rPr>
              <a:t>Hàng chẵn hay lẻ?</a:t>
            </a:r>
          </a:p>
        </p:txBody>
      </p:sp>
      <p:sp>
        <p:nvSpPr>
          <p:cNvPr id="24" name="TextBox 23"/>
          <p:cNvSpPr txBox="1"/>
          <p:nvPr/>
        </p:nvSpPr>
        <p:spPr>
          <a:xfrm>
            <a:off x="3749039" y="5120640"/>
            <a:ext cx="2011680" cy="329184"/>
          </a:xfrm>
          <a:prstGeom prst="rect">
            <a:avLst/>
          </a:prstGeom>
          <a:noFill/>
        </p:spPr>
        <p:txBody>
          <a:bodyPr wrap="square" anchor="t" lIns="0" rIns="0" tIns="0" bIns="0">
            <a:spAutoFit/>
          </a:bodyPr>
          <a:lstStyle/>
          <a:p>
            <a:pPr algn="l"/>
            <a:r>
              <a:rPr sz="1600" b="1" i="0">
                <a:solidFill>
                  <a:srgbClr val="1D3F8C"/>
                </a:solidFill>
                <a:latin typeface="Calibri"/>
              </a:rPr>
              <a:t>chẵn</a:t>
            </a:r>
          </a:p>
        </p:txBody>
      </p:sp>
      <p:sp>
        <p:nvSpPr>
          <p:cNvPr id="25" name="Oval 24"/>
          <p:cNvSpPr/>
          <p:nvPr/>
        </p:nvSpPr>
        <p:spPr>
          <a:xfrm>
            <a:off x="941832" y="5715000"/>
            <a:ext cx="128016" cy="128016"/>
          </a:xfrm>
          <a:prstGeom prst="ellipse">
            <a:avLst/>
          </a:prstGeom>
          <a:solidFill>
            <a:srgbClr val="4A54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5623560"/>
            <a:ext cx="2560320" cy="329184"/>
          </a:xfrm>
          <a:prstGeom prst="rect">
            <a:avLst/>
          </a:prstGeom>
          <a:noFill/>
        </p:spPr>
        <p:txBody>
          <a:bodyPr wrap="square" anchor="t" lIns="0" rIns="0" tIns="0" bIns="0">
            <a:spAutoFit/>
          </a:bodyPr>
          <a:lstStyle/>
          <a:p>
            <a:pPr algn="l"/>
            <a:r>
              <a:rPr sz="1600" b="0" i="0">
                <a:solidFill>
                  <a:srgbClr val="1B2340"/>
                </a:solidFill>
                <a:latin typeface="Calibri"/>
              </a:rPr>
              <a:t>Cách cột giữa?</a:t>
            </a:r>
          </a:p>
        </p:txBody>
      </p:sp>
      <p:sp>
        <p:nvSpPr>
          <p:cNvPr id="27" name="TextBox 26"/>
          <p:cNvSpPr txBox="1"/>
          <p:nvPr/>
        </p:nvSpPr>
        <p:spPr>
          <a:xfrm>
            <a:off x="3749039" y="5623560"/>
            <a:ext cx="2011680" cy="329184"/>
          </a:xfrm>
          <a:prstGeom prst="rect">
            <a:avLst/>
          </a:prstGeom>
          <a:noFill/>
        </p:spPr>
        <p:txBody>
          <a:bodyPr wrap="square" anchor="t" lIns="0" rIns="0" tIns="0" bIns="0">
            <a:spAutoFit/>
          </a:bodyPr>
          <a:lstStyle/>
          <a:p>
            <a:pPr algn="l"/>
            <a:r>
              <a:rPr sz="1600" b="1" i="0">
                <a:solidFill>
                  <a:srgbClr val="1D3F8C"/>
                </a:solidFill>
                <a:latin typeface="Calibri"/>
              </a:rPr>
              <a:t>0 (chính giữa)</a:t>
            </a:r>
          </a:p>
        </p:txBody>
      </p:sp>
      <p:sp>
        <p:nvSpPr>
          <p:cNvPr id="28" name="Rounded Rectangle 27"/>
          <p:cNvSpPr/>
          <p:nvPr/>
        </p:nvSpPr>
        <p:spPr>
          <a:xfrm>
            <a:off x="6327648" y="1801367"/>
            <a:ext cx="1618488" cy="1408176"/>
          </a:xfrm>
          <a:prstGeom prst="roundRect">
            <a:avLst>
              <a:gd name="adj" fmla="val 6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23660"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23660"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23660"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23660"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23660"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23660"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33972"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33972"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633972"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33972"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633972"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633972"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44284" y="2948940"/>
            <a:ext cx="164592" cy="164592"/>
          </a:xfrm>
          <a:prstGeom prst="ellipse">
            <a:avLst/>
          </a:prstGeom>
          <a:solidFill>
            <a:srgbClr val="E63946"/>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44284"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844284"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844284"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844284"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44284"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054596" y="2948940"/>
            <a:ext cx="164592" cy="164592"/>
          </a:xfrm>
          <a:prstGeom prst="ellipse">
            <a:avLst/>
          </a:prstGeom>
          <a:solidFill>
            <a:srgbClr val="E63946"/>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7054596" y="2738628"/>
            <a:ext cx="164592" cy="164592"/>
          </a:xfrm>
          <a:prstGeom prst="ellipse">
            <a:avLst/>
          </a:prstGeom>
          <a:solidFill>
            <a:srgbClr val="F2B705"/>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054596" y="2528316"/>
            <a:ext cx="164592" cy="164592"/>
          </a:xfrm>
          <a:prstGeom prst="ellipse">
            <a:avLst/>
          </a:prstGeom>
          <a:solidFill>
            <a:srgbClr val="0F8F7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054596"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054596"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054596"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264908"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7264908"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64908"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264908"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264908"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264908"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475220"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475220"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475220"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475220"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475220"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7475220"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685532"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7685532"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7685532"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685532"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685532"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685532"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00800" y="3246120"/>
            <a:ext cx="1472184" cy="320040"/>
          </a:xfrm>
          <a:prstGeom prst="rect">
            <a:avLst/>
          </a:prstGeom>
          <a:noFill/>
        </p:spPr>
        <p:txBody>
          <a:bodyPr wrap="square" anchor="t" lIns="0" rIns="0" tIns="0" bIns="0">
            <a:spAutoFit/>
          </a:bodyPr>
          <a:lstStyle/>
          <a:p>
            <a:pPr algn="ctr"/>
            <a:r>
              <a:rPr sz="1500" b="1" i="0">
                <a:solidFill>
                  <a:srgbClr val="1B2340"/>
                </a:solidFill>
                <a:latin typeface="Calibri"/>
              </a:rPr>
              <a:t>Sau vòng 1</a:t>
            </a:r>
          </a:p>
        </p:txBody>
      </p:sp>
      <p:sp>
        <p:nvSpPr>
          <p:cNvPr id="72" name="Rounded Rectangle 71"/>
          <p:cNvSpPr/>
          <p:nvPr/>
        </p:nvSpPr>
        <p:spPr>
          <a:xfrm>
            <a:off x="8156448" y="1801367"/>
            <a:ext cx="1618488" cy="1408176"/>
          </a:xfrm>
          <a:prstGeom prst="roundRect">
            <a:avLst>
              <a:gd name="adj" fmla="val 6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252460"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252460"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252460"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252460"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252460"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252460"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462772"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462772"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462772"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462772"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462772"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462772"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673084" y="2948940"/>
            <a:ext cx="164592" cy="164592"/>
          </a:xfrm>
          <a:prstGeom prst="ellipse">
            <a:avLst/>
          </a:prstGeom>
          <a:solidFill>
            <a:srgbClr val="E63946"/>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673084"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673084"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673084"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673084"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673084"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883396" y="2948940"/>
            <a:ext cx="164592" cy="164592"/>
          </a:xfrm>
          <a:prstGeom prst="ellipse">
            <a:avLst/>
          </a:prstGeom>
          <a:solidFill>
            <a:srgbClr val="E63946"/>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883396" y="2738628"/>
            <a:ext cx="164592" cy="164592"/>
          </a:xfrm>
          <a:prstGeom prst="ellipse">
            <a:avLst/>
          </a:prstGeom>
          <a:solidFill>
            <a:srgbClr val="F2B705"/>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883396" y="2528316"/>
            <a:ext cx="164592" cy="164592"/>
          </a:xfrm>
          <a:prstGeom prst="ellipse">
            <a:avLst/>
          </a:prstGeom>
          <a:solidFill>
            <a:srgbClr val="0F8F7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883396"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883396"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8883396"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093708"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093708"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093708"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093708"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093708"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093708"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304020"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304020"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304020"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304020"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304020"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304020"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514332" y="294894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514332" y="2738628"/>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514332" y="2528316"/>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514332" y="2318004"/>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514332" y="2107692"/>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9514332" y="1897380"/>
            <a:ext cx="164592" cy="164592"/>
          </a:xfrm>
          <a:prstGeom prst="ellipse">
            <a:avLst/>
          </a:prstGeom>
          <a:solidFill>
            <a:srgbClr val="FFFFFF"/>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229600" y="3246120"/>
            <a:ext cx="1472184" cy="320040"/>
          </a:xfrm>
          <a:prstGeom prst="rect">
            <a:avLst/>
          </a:prstGeom>
          <a:noFill/>
        </p:spPr>
        <p:txBody>
          <a:bodyPr wrap="square" anchor="t" lIns="0" rIns="0" tIns="0" bIns="0">
            <a:spAutoFit/>
          </a:bodyPr>
          <a:lstStyle/>
          <a:p>
            <a:pPr algn="ctr"/>
            <a:r>
              <a:rPr sz="1500" b="1" i="0">
                <a:solidFill>
                  <a:srgbClr val="1B2340"/>
                </a:solidFill>
                <a:latin typeface="Calibri"/>
              </a:rPr>
              <a:t>Sau vòng 2</a:t>
            </a:r>
          </a:p>
        </p:txBody>
      </p:sp>
      <p:sp>
        <p:nvSpPr>
          <p:cNvPr id="116" name="Rounded Rectangle 115"/>
          <p:cNvSpPr/>
          <p:nvPr/>
        </p:nvSpPr>
        <p:spPr>
          <a:xfrm>
            <a:off x="9985248" y="1801367"/>
            <a:ext cx="1618488" cy="1408176"/>
          </a:xfrm>
          <a:prstGeom prst="roundRect">
            <a:avLst>
              <a:gd name="adj" fmla="val 6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0081260"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0081260"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0081260"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0081260"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0081260"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0081260"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291572"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10291572"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0291572"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10291572"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291572"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0291572"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501884" y="2948940"/>
            <a:ext cx="164592" cy="164592"/>
          </a:xfrm>
          <a:prstGeom prst="ellipse">
            <a:avLst/>
          </a:prstGeom>
          <a:solidFill>
            <a:srgbClr val="E63946"/>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501884"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501884"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501884"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0501884"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10501884"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712196" y="2948940"/>
            <a:ext cx="164592" cy="164592"/>
          </a:xfrm>
          <a:prstGeom prst="ellipse">
            <a:avLst/>
          </a:prstGeom>
          <a:solidFill>
            <a:srgbClr val="E63946"/>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712196" y="2738628"/>
            <a:ext cx="164592" cy="164592"/>
          </a:xfrm>
          <a:prstGeom prst="ellipse">
            <a:avLst/>
          </a:prstGeom>
          <a:solidFill>
            <a:srgbClr val="F2B705"/>
          </a:solidFill>
          <a:ln w="28575">
            <a:solidFill>
              <a:srgbClr val="0F8F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712196" y="2528316"/>
            <a:ext cx="164592" cy="164592"/>
          </a:xfrm>
          <a:prstGeom prst="ellipse">
            <a:avLst/>
          </a:prstGeom>
          <a:solidFill>
            <a:srgbClr val="0F8F7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0712196"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10712196"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10712196"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10922508"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10922508"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10922508"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10922508"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10922508"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10922508"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1132820"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1132820"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1132820"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11132820"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11132820"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11132820"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11343132" y="294894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11343132" y="2738628"/>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11343132" y="2528316"/>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11343132" y="2318004"/>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11343132" y="2107692"/>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11343132" y="1897380"/>
            <a:ext cx="164592" cy="164592"/>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0058400" y="3246120"/>
            <a:ext cx="1472184" cy="320040"/>
          </a:xfrm>
          <a:prstGeom prst="rect">
            <a:avLst/>
          </a:prstGeom>
          <a:noFill/>
        </p:spPr>
        <p:txBody>
          <a:bodyPr wrap="square" anchor="t" lIns="0" rIns="0" tIns="0" bIns="0">
            <a:spAutoFit/>
          </a:bodyPr>
          <a:lstStyle/>
          <a:p>
            <a:pPr algn="ctr"/>
            <a:r>
              <a:rPr sz="1500" b="1" i="0">
                <a:solidFill>
                  <a:srgbClr val="1B2340"/>
                </a:solidFill>
                <a:latin typeface="Calibri"/>
              </a:rPr>
              <a:t>Sau vòng 3</a:t>
            </a:r>
          </a:p>
        </p:txBody>
      </p:sp>
      <p:sp>
        <p:nvSpPr>
          <p:cNvPr id="160" name="Oval 159"/>
          <p:cNvSpPr/>
          <p:nvPr/>
        </p:nvSpPr>
        <p:spPr>
          <a:xfrm>
            <a:off x="6483096" y="3739896"/>
            <a:ext cx="201168" cy="201168"/>
          </a:xfrm>
          <a:prstGeom prst="ellipse">
            <a:avLst/>
          </a:prstGeom>
          <a:solidFill>
            <a:srgbClr val="0F8F7E"/>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6766560" y="3703320"/>
            <a:ext cx="2194560" cy="274320"/>
          </a:xfrm>
          <a:prstGeom prst="rect">
            <a:avLst/>
          </a:prstGeom>
          <a:noFill/>
        </p:spPr>
        <p:txBody>
          <a:bodyPr wrap="square" anchor="ctr" lIns="0" rIns="0" tIns="0" bIns="0">
            <a:spAutoFit/>
          </a:bodyPr>
          <a:lstStyle/>
          <a:p>
            <a:pPr algn="l"/>
            <a:r>
              <a:rPr sz="1300" b="0" i="0">
                <a:solidFill>
                  <a:srgbClr val="4A5468"/>
                </a:solidFill>
                <a:latin typeface="Calibri"/>
              </a:rPr>
              <a:t>ô đang xét (cột 3, hàng 2)</a:t>
            </a:r>
          </a:p>
        </p:txBody>
      </p:sp>
      <p:sp>
        <p:nvSpPr>
          <p:cNvPr id="162" name="Oval 161"/>
          <p:cNvSpPr/>
          <p:nvPr/>
        </p:nvSpPr>
        <p:spPr>
          <a:xfrm>
            <a:off x="9089136" y="3739896"/>
            <a:ext cx="201168" cy="201168"/>
          </a:xfrm>
          <a:prstGeom prst="ellipse">
            <a:avLst/>
          </a:prstGeom>
          <a:solidFill>
            <a:srgbClr val="9FDCD2"/>
          </a:solidFill>
          <a:ln w="9525">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9372600" y="3703320"/>
            <a:ext cx="2286000" cy="274320"/>
          </a:xfrm>
          <a:prstGeom prst="rect">
            <a:avLst/>
          </a:prstGeom>
          <a:noFill/>
        </p:spPr>
        <p:txBody>
          <a:bodyPr wrap="square" anchor="ctr" lIns="0" rIns="0" tIns="0" bIns="0">
            <a:spAutoFit/>
          </a:bodyPr>
          <a:lstStyle/>
          <a:p>
            <a:pPr algn="l"/>
            <a:r>
              <a:rPr sz="1300" b="0" i="0">
                <a:solidFill>
                  <a:srgbClr val="4A5468"/>
                </a:solidFill>
                <a:latin typeface="Calibri"/>
              </a:rPr>
              <a:t>ô đã gửi được tin tới nó</a:t>
            </a:r>
          </a:p>
        </p:txBody>
      </p:sp>
      <p:sp>
        <p:nvSpPr>
          <p:cNvPr id="164" name="Rounded Rectangle 163"/>
          <p:cNvSpPr/>
          <p:nvPr/>
        </p:nvSpPr>
        <p:spPr>
          <a:xfrm>
            <a:off x="6400800" y="4251960"/>
            <a:ext cx="5257800" cy="20116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675120" y="4434840"/>
            <a:ext cx="4754880" cy="1737360"/>
          </a:xfrm>
          <a:prstGeom prst="rect">
            <a:avLst/>
          </a:prstGeom>
          <a:noFill/>
        </p:spPr>
        <p:txBody>
          <a:bodyPr wrap="square" anchor="t" lIns="0" rIns="0" tIns="0" bIns="0">
            <a:spAutoFit/>
          </a:bodyPr>
          <a:lstStyle/>
          <a:p>
            <a:pPr algn="l">
              <a:spcAft>
                <a:spcPts val="800"/>
              </a:spcAft>
            </a:pPr>
            <a:r>
              <a:rPr sz="1600" b="1" i="0">
                <a:solidFill>
                  <a:srgbClr val="1B2340"/>
                </a:solidFill>
                <a:latin typeface="Calibri"/>
              </a:rPr>
              <a:t>Mỗi vòng tin chỉ đi được 1 ô. </a:t>
            </a:r>
            <a:r>
              <a:rPr sz="1600" b="0" i="0">
                <a:solidFill>
                  <a:srgbClr val="1B2340"/>
                </a:solidFill>
                <a:latin typeface="Calibri"/>
              </a:rPr>
              <a:t>Sau 3 vòng, ô đang xét đã “nghe” được mọi ô cách nó tới 3 ô — đủ để nhận ra một hàng 4.</a:t>
            </a:r>
          </a:p>
          <a:p>
            <a:pPr algn="l">
              <a:spcAft>
                <a:spcPts val="800"/>
              </a:spcAft>
            </a:pPr>
            <a:r>
              <a:rPr sz="1600" b="0" i="0">
                <a:solidFill>
                  <a:srgbClr val="4A5468"/>
                </a:solidFill>
                <a:latin typeface="Calibri"/>
              </a:rPr>
              <a:t>Cách tính này giống hệt một mạng tích chập (CNN) 3×3, chỉ được kể lại theo ngôn ngữ đồ thị.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PHƯƠNG PHÁP 1 · ĐỒ THỊ ĐỘNG</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Chỉ giữ những ô có ý nghĩa</a:t>
            </a:r>
          </a:p>
        </p:txBody>
      </p:sp>
      <p:sp>
        <p:nvSpPr>
          <p:cNvPr id="4" name="Rounded Rectangle 3"/>
          <p:cNvSpPr/>
          <p:nvPr/>
        </p:nvSpPr>
        <p:spPr>
          <a:xfrm>
            <a:off x="640080" y="1554480"/>
            <a:ext cx="5449824" cy="4736592"/>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4078224" y="5705856"/>
            <a:ext cx="713232"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651760" y="4992624"/>
            <a:ext cx="713231"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651760" y="4279392"/>
            <a:ext cx="713231"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651760" y="4992624"/>
            <a:ext cx="713231"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225295" y="5705856"/>
            <a:ext cx="713233"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3364991" y="4279392"/>
            <a:ext cx="0"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364991" y="4992624"/>
            <a:ext cx="713233"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5705856"/>
            <a:ext cx="713231"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651760" y="4992624"/>
            <a:ext cx="0"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651760" y="4992624"/>
            <a:ext cx="713231"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364991" y="5705856"/>
            <a:ext cx="713233"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364991" y="4992624"/>
            <a:ext cx="0"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791456" y="5705856"/>
            <a:ext cx="713232"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938528" y="5705856"/>
            <a:ext cx="713232" cy="0"/>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38528" y="4992624"/>
            <a:ext cx="713232" cy="713232"/>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364991" y="4279392"/>
            <a:ext cx="1426465" cy="1426464"/>
          </a:xfrm>
          <a:prstGeom prst="line">
            <a:avLst/>
          </a:prstGeom>
          <a:ln w="1905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64991" y="4279392"/>
            <a:ext cx="1426465" cy="1426464"/>
          </a:xfrm>
          <a:prstGeom prst="line">
            <a:avLst/>
          </a:prstGeom>
          <a:ln w="50800">
            <a:solidFill>
              <a:srgbClr val="0F8F7E"/>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46987"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86068" y="4953396"/>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86068"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86068"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86068"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86068"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760220"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899300" y="4953396"/>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899300"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899300"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899300"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99300"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73452" y="5527548"/>
            <a:ext cx="356616" cy="35661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73452" y="4814316"/>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12532"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12532"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612532"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612532"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186684" y="5527548"/>
            <a:ext cx="356616" cy="356616"/>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186684" y="4814316"/>
            <a:ext cx="356616" cy="356616"/>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186684" y="4101083"/>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325764"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325764"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325764"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899915"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038996" y="4953396"/>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038996"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038996"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038996"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038996"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613148"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752228" y="4953396"/>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752228"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752228"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752228"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752228"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326380" y="5527548"/>
            <a:ext cx="356616" cy="356616"/>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465460" y="4953396"/>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465460" y="4240164"/>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465460" y="3526932"/>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465460" y="2813700"/>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5465460" y="2100468"/>
            <a:ext cx="78455" cy="78455"/>
          </a:xfrm>
          <a:prstGeom prst="ellipse">
            <a:avLst/>
          </a:prstGeom>
          <a:solidFill>
            <a:srgbClr val="DDE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52544" y="4535424"/>
            <a:ext cx="1463040" cy="274320"/>
          </a:xfrm>
          <a:prstGeom prst="rect">
            <a:avLst/>
          </a:prstGeom>
          <a:noFill/>
        </p:spPr>
        <p:txBody>
          <a:bodyPr wrap="square" anchor="t" lIns="0" rIns="0" tIns="0" bIns="0">
            <a:spAutoFit/>
          </a:bodyPr>
          <a:lstStyle/>
          <a:p>
            <a:pPr algn="l"/>
            <a:r>
              <a:rPr sz="1200" b="1" i="0">
                <a:solidFill>
                  <a:srgbClr val="0F8F7E"/>
                </a:solidFill>
                <a:latin typeface="Calibri"/>
              </a:rPr>
              <a:t>bắc qua ô trống</a:t>
            </a:r>
          </a:p>
        </p:txBody>
      </p:sp>
      <p:sp>
        <p:nvSpPr>
          <p:cNvPr id="65" name="Rounded Rectangle 64"/>
          <p:cNvSpPr/>
          <p:nvPr/>
        </p:nvSpPr>
        <p:spPr>
          <a:xfrm>
            <a:off x="6720840" y="1600200"/>
            <a:ext cx="4937760" cy="15087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903720" y="1783080"/>
            <a:ext cx="457200" cy="45720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7" name="TextBox 66"/>
          <p:cNvSpPr txBox="1"/>
          <p:nvPr/>
        </p:nvSpPr>
        <p:spPr>
          <a:xfrm>
            <a:off x="7543800" y="1783080"/>
            <a:ext cx="3931920" cy="365760"/>
          </a:xfrm>
          <a:prstGeom prst="rect">
            <a:avLst/>
          </a:prstGeom>
          <a:noFill/>
        </p:spPr>
        <p:txBody>
          <a:bodyPr wrap="square" anchor="t" lIns="0" rIns="0" tIns="0" bIns="0">
            <a:spAutoFit/>
          </a:bodyPr>
          <a:lstStyle/>
          <a:p>
            <a:pPr algn="l"/>
            <a:r>
              <a:rPr sz="1700" b="1" i="0">
                <a:solidFill>
                  <a:srgbClr val="1B2340"/>
                </a:solidFill>
                <a:latin typeface="Calibri"/>
              </a:rPr>
              <a:t>Nút: quân đã đặt + 7 ô sắp rơi vào</a:t>
            </a:r>
          </a:p>
        </p:txBody>
      </p:sp>
      <p:sp>
        <p:nvSpPr>
          <p:cNvPr id="68" name="TextBox 67"/>
          <p:cNvSpPr txBox="1"/>
          <p:nvPr/>
        </p:nvSpPr>
        <p:spPr>
          <a:xfrm>
            <a:off x="7543800" y="2130552"/>
            <a:ext cx="3931920" cy="886967"/>
          </a:xfrm>
          <a:prstGeom prst="rect">
            <a:avLst/>
          </a:prstGeom>
          <a:noFill/>
        </p:spPr>
        <p:txBody>
          <a:bodyPr wrap="square" anchor="t" lIns="0" rIns="0" tIns="0" bIns="0">
            <a:spAutoFit/>
          </a:bodyPr>
          <a:lstStyle/>
          <a:p>
            <a:pPr algn="l"/>
            <a:r>
              <a:rPr sz="1500" b="0" i="0">
                <a:solidFill>
                  <a:srgbClr val="4A5468"/>
                </a:solidFill>
                <a:latin typeface="Calibri"/>
              </a:rPr>
              <a:t>Ở ví dụ: 3 quân + 7 ô = 10 nút. 32 ô còn lại không có mặt (chấm mờ).</a:t>
            </a:r>
          </a:p>
        </p:txBody>
      </p:sp>
      <p:sp>
        <p:nvSpPr>
          <p:cNvPr id="69" name="Rounded Rectangle 68"/>
          <p:cNvSpPr/>
          <p:nvPr/>
        </p:nvSpPr>
        <p:spPr>
          <a:xfrm>
            <a:off x="6720840" y="3291840"/>
            <a:ext cx="4937760" cy="12801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903720" y="3474720"/>
            <a:ext cx="457200" cy="45720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71" name="TextBox 70"/>
          <p:cNvSpPr txBox="1"/>
          <p:nvPr/>
        </p:nvSpPr>
        <p:spPr>
          <a:xfrm>
            <a:off x="7543800" y="3474720"/>
            <a:ext cx="3931920" cy="365760"/>
          </a:xfrm>
          <a:prstGeom prst="rect">
            <a:avLst/>
          </a:prstGeom>
          <a:noFill/>
        </p:spPr>
        <p:txBody>
          <a:bodyPr wrap="square" anchor="t" lIns="0" rIns="0" tIns="0" bIns="0">
            <a:spAutoFit/>
          </a:bodyPr>
          <a:lstStyle/>
          <a:p>
            <a:pPr algn="l"/>
            <a:r>
              <a:rPr sz="1700" b="1" i="0">
                <a:solidFill>
                  <a:srgbClr val="1B2340"/>
                </a:solidFill>
                <a:latin typeface="Calibri"/>
              </a:rPr>
              <a:t>Đồ thị lớn dần theo ván</a:t>
            </a:r>
          </a:p>
        </p:txBody>
      </p:sp>
      <p:sp>
        <p:nvSpPr>
          <p:cNvPr id="72" name="TextBox 71"/>
          <p:cNvSpPr txBox="1"/>
          <p:nvPr/>
        </p:nvSpPr>
        <p:spPr>
          <a:xfrm>
            <a:off x="7543800" y="3822191"/>
            <a:ext cx="3931920" cy="658367"/>
          </a:xfrm>
          <a:prstGeom prst="rect">
            <a:avLst/>
          </a:prstGeom>
          <a:noFill/>
        </p:spPr>
        <p:txBody>
          <a:bodyPr wrap="square" anchor="t" lIns="0" rIns="0" tIns="0" bIns="0">
            <a:spAutoFit/>
          </a:bodyPr>
          <a:lstStyle/>
          <a:p>
            <a:pPr algn="l"/>
            <a:r>
              <a:rPr sz="1500" b="0" i="0">
                <a:solidFill>
                  <a:srgbClr val="4A5468"/>
                </a:solidFill>
                <a:latin typeface="Calibri"/>
              </a:rPr>
              <a:t>Bàn trống có 7 nút, bàn đầy có 42 nút.</a:t>
            </a:r>
          </a:p>
        </p:txBody>
      </p:sp>
      <p:sp>
        <p:nvSpPr>
          <p:cNvPr id="73" name="Rounded Rectangle 72"/>
          <p:cNvSpPr/>
          <p:nvPr/>
        </p:nvSpPr>
        <p:spPr>
          <a:xfrm>
            <a:off x="6720840" y="4754880"/>
            <a:ext cx="493776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903720" y="4937760"/>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75" name="TextBox 74"/>
          <p:cNvSpPr txBox="1"/>
          <p:nvPr/>
        </p:nvSpPr>
        <p:spPr>
          <a:xfrm>
            <a:off x="7543800" y="4937760"/>
            <a:ext cx="3931920" cy="365760"/>
          </a:xfrm>
          <a:prstGeom prst="rect">
            <a:avLst/>
          </a:prstGeom>
          <a:noFill/>
        </p:spPr>
        <p:txBody>
          <a:bodyPr wrap="square" anchor="t" lIns="0" rIns="0" tIns="0" bIns="0">
            <a:spAutoFit/>
          </a:bodyPr>
          <a:lstStyle/>
          <a:p>
            <a:pPr algn="l"/>
            <a:r>
              <a:rPr sz="1700" b="1" i="0">
                <a:solidFill>
                  <a:srgbClr val="1B2340"/>
                </a:solidFill>
                <a:latin typeface="Calibri"/>
              </a:rPr>
              <a:t>Nước đi: vẫn đọc ở nút</a:t>
            </a:r>
          </a:p>
        </p:txBody>
      </p:sp>
      <p:sp>
        <p:nvSpPr>
          <p:cNvPr id="76" name="TextBox 75"/>
          <p:cNvSpPr txBox="1"/>
          <p:nvPr/>
        </p:nvSpPr>
        <p:spPr>
          <a:xfrm>
            <a:off x="7543800" y="5285232"/>
            <a:ext cx="3931920" cy="704087"/>
          </a:xfrm>
          <a:prstGeom prst="rect">
            <a:avLst/>
          </a:prstGeom>
          <a:noFill/>
        </p:spPr>
        <p:txBody>
          <a:bodyPr wrap="square" anchor="t" lIns="0" rIns="0" tIns="0" bIns="0">
            <a:spAutoFit/>
          </a:bodyPr>
          <a:lstStyle/>
          <a:p>
            <a:pPr algn="l"/>
            <a:r>
              <a:rPr sz="1500" b="0" i="0">
                <a:solidFill>
                  <a:srgbClr val="4A5468"/>
                </a:solidFill>
                <a:latin typeface="Calibri"/>
              </a:rPr>
              <a:t>Ở 7 ô sắp rơi vào — vì thế các ô này luôn được giữ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PHƯƠNG PHÁP 1 · ĐỒ THỊ ĐỘNG</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Dây bắc qua ô trống và ghi lại “giữa có mấy ô trống”</a:t>
            </a:r>
          </a:p>
        </p:txBody>
      </p:sp>
      <p:sp>
        <p:nvSpPr>
          <p:cNvPr id="4" name="Rounded Rectangle 3"/>
          <p:cNvSpPr/>
          <p:nvPr/>
        </p:nvSpPr>
        <p:spPr>
          <a:xfrm>
            <a:off x="640080" y="1920240"/>
            <a:ext cx="5212080" cy="292608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531620" y="2811780"/>
            <a:ext cx="1143000" cy="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531620" y="3954780"/>
            <a:ext cx="1143000" cy="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74620" y="3954780"/>
            <a:ext cx="1143000" cy="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17620" y="3954780"/>
            <a:ext cx="1143000" cy="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531620" y="2811780"/>
            <a:ext cx="0" cy="114300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674620" y="2811780"/>
            <a:ext cx="0" cy="114300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960620" y="2811780"/>
            <a:ext cx="0" cy="1143000"/>
          </a:xfrm>
          <a:prstGeom prst="line">
            <a:avLst/>
          </a:prstGeom>
          <a:ln w="25400">
            <a:solidFill>
              <a:srgbClr val="B4BCC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74620" y="2811780"/>
            <a:ext cx="2286000" cy="0"/>
          </a:xfrm>
          <a:prstGeom prst="line">
            <a:avLst/>
          </a:prstGeom>
          <a:ln w="63500">
            <a:solidFill>
              <a:srgbClr val="0F8F7E"/>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245870" y="3669030"/>
            <a:ext cx="571500" cy="571500"/>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388870" y="3669030"/>
            <a:ext cx="571500" cy="571500"/>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74870" y="3669030"/>
            <a:ext cx="571500" cy="571500"/>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45870" y="2526030"/>
            <a:ext cx="571500" cy="571500"/>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88870" y="2526030"/>
            <a:ext cx="571500" cy="571500"/>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74870" y="2526030"/>
            <a:ext cx="571500" cy="571500"/>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31870" y="3669030"/>
            <a:ext cx="571500" cy="57150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531870" y="2526030"/>
            <a:ext cx="571500" cy="571500"/>
          </a:xfrm>
          <a:prstGeom prst="ellipse">
            <a:avLst/>
          </a:prstGeom>
          <a:noFill/>
          <a:ln w="12700">
            <a:solidFill>
              <a:srgbClr val="B4BCC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463040"/>
            <a:ext cx="4754880" cy="411480"/>
          </a:xfrm>
          <a:prstGeom prst="rect">
            <a:avLst/>
          </a:prstGeom>
          <a:noFill/>
        </p:spPr>
        <p:txBody>
          <a:bodyPr wrap="square" anchor="t" lIns="0" rIns="0" tIns="0" bIns="0">
            <a:spAutoFit/>
          </a:bodyPr>
          <a:lstStyle/>
          <a:p>
            <a:pPr algn="l"/>
            <a:r>
              <a:rPr sz="1600" b="1" i="0">
                <a:solidFill>
                  <a:srgbClr val="E63946"/>
                </a:solidFill>
                <a:latin typeface="Calibri"/>
              </a:rPr>
              <a:t>Mẫu “X X _ X”: đỏ chỉ thiếu 1 quân để thắng</a:t>
            </a:r>
          </a:p>
        </p:txBody>
      </p:sp>
      <p:sp>
        <p:nvSpPr>
          <p:cNvPr id="22" name="TextBox 21"/>
          <p:cNvSpPr txBox="1"/>
          <p:nvPr/>
        </p:nvSpPr>
        <p:spPr>
          <a:xfrm>
            <a:off x="2994660" y="1943100"/>
            <a:ext cx="1645920" cy="320040"/>
          </a:xfrm>
          <a:prstGeom prst="rect">
            <a:avLst/>
          </a:prstGeom>
          <a:noFill/>
        </p:spPr>
        <p:txBody>
          <a:bodyPr wrap="square" anchor="t" lIns="0" rIns="0" tIns="0" bIns="0">
            <a:spAutoFit/>
          </a:bodyPr>
          <a:lstStyle/>
          <a:p>
            <a:pPr algn="ctr"/>
            <a:r>
              <a:rPr sz="1400" b="1" i="0">
                <a:solidFill>
                  <a:srgbClr val="0F8F7E"/>
                </a:solidFill>
                <a:latin typeface="Calibri"/>
              </a:rPr>
              <a:t>1 ô trống ở giữa</a:t>
            </a:r>
          </a:p>
        </p:txBody>
      </p:sp>
      <p:sp>
        <p:nvSpPr>
          <p:cNvPr id="23" name="TextBox 22"/>
          <p:cNvSpPr txBox="1"/>
          <p:nvPr/>
        </p:nvSpPr>
        <p:spPr>
          <a:xfrm>
            <a:off x="2720339" y="4983480"/>
            <a:ext cx="2194560" cy="502920"/>
          </a:xfrm>
          <a:prstGeom prst="rect">
            <a:avLst/>
          </a:prstGeom>
          <a:noFill/>
        </p:spPr>
        <p:txBody>
          <a:bodyPr wrap="square" anchor="t" lIns="0" rIns="0" tIns="0" bIns="0">
            <a:spAutoFit/>
          </a:bodyPr>
          <a:lstStyle/>
          <a:p>
            <a:pPr algn="ctr"/>
            <a:r>
              <a:rPr sz="1300" b="0" i="0">
                <a:solidFill>
                  <a:srgbClr val="4A5468"/>
                </a:solidFill>
                <a:latin typeface="Calibri"/>
              </a:rPr>
              <a:t>ô nét đứt xám: không phải nút</a:t>
            </a:r>
          </a:p>
        </p:txBody>
      </p:sp>
      <p:sp>
        <p:nvSpPr>
          <p:cNvPr id="24" name="Rounded Rectangle 23"/>
          <p:cNvSpPr/>
          <p:nvPr/>
        </p:nvSpPr>
        <p:spPr>
          <a:xfrm>
            <a:off x="6309360" y="1600200"/>
            <a:ext cx="5349240" cy="141732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92240" y="1783080"/>
            <a:ext cx="457200" cy="457200"/>
          </a:xfrm>
          <a:prstGeom prst="ellipse">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26" name="TextBox 25"/>
          <p:cNvSpPr txBox="1"/>
          <p:nvPr/>
        </p:nvSpPr>
        <p:spPr>
          <a:xfrm>
            <a:off x="7132320" y="1783080"/>
            <a:ext cx="4343400" cy="365760"/>
          </a:xfrm>
          <a:prstGeom prst="rect">
            <a:avLst/>
          </a:prstGeom>
          <a:noFill/>
        </p:spPr>
        <p:txBody>
          <a:bodyPr wrap="square" anchor="t" lIns="0" rIns="0" tIns="0" bIns="0">
            <a:spAutoFit/>
          </a:bodyPr>
          <a:lstStyle/>
          <a:p>
            <a:pPr algn="l"/>
            <a:r>
              <a:rPr sz="1700" b="1" i="0">
                <a:solidFill>
                  <a:srgbClr val="1B2340"/>
                </a:solidFill>
                <a:latin typeface="Calibri"/>
              </a:rPr>
              <a:t>Vấn đề khi bỏ ô trống</a:t>
            </a:r>
          </a:p>
        </p:txBody>
      </p:sp>
      <p:sp>
        <p:nvSpPr>
          <p:cNvPr id="27" name="TextBox 26"/>
          <p:cNvSpPr txBox="1"/>
          <p:nvPr/>
        </p:nvSpPr>
        <p:spPr>
          <a:xfrm>
            <a:off x="7132320" y="2130552"/>
            <a:ext cx="4343400" cy="795528"/>
          </a:xfrm>
          <a:prstGeom prst="rect">
            <a:avLst/>
          </a:prstGeom>
          <a:noFill/>
        </p:spPr>
        <p:txBody>
          <a:bodyPr wrap="square" anchor="t" lIns="0" rIns="0" tIns="0" bIns="0">
            <a:spAutoFit/>
          </a:bodyPr>
          <a:lstStyle/>
          <a:p>
            <a:pPr algn="l"/>
            <a:r>
              <a:rPr sz="1500" b="0" i="0">
                <a:solidFill>
                  <a:srgbClr val="4A5468"/>
                </a:solidFill>
                <a:latin typeface="Calibri"/>
              </a:rPr>
              <a:t>Ô giữa hai quân đỏ không có mặt, nên hai quân này không còn “nói chuyện” với nhau qua hàng xóm.</a:t>
            </a:r>
          </a:p>
        </p:txBody>
      </p:sp>
      <p:sp>
        <p:nvSpPr>
          <p:cNvPr id="28" name="Rounded Rectangle 27"/>
          <p:cNvSpPr/>
          <p:nvPr/>
        </p:nvSpPr>
        <p:spPr>
          <a:xfrm>
            <a:off x="6309360" y="3200400"/>
            <a:ext cx="534924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0" y="3383280"/>
            <a:ext cx="457200" cy="45720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30" name="TextBox 29"/>
          <p:cNvSpPr txBox="1"/>
          <p:nvPr/>
        </p:nvSpPr>
        <p:spPr>
          <a:xfrm>
            <a:off x="7132320" y="3383280"/>
            <a:ext cx="4343400" cy="365760"/>
          </a:xfrm>
          <a:prstGeom prst="rect">
            <a:avLst/>
          </a:prstGeom>
          <a:noFill/>
        </p:spPr>
        <p:txBody>
          <a:bodyPr wrap="square" anchor="t" lIns="0" rIns="0" tIns="0" bIns="0">
            <a:spAutoFit/>
          </a:bodyPr>
          <a:lstStyle/>
          <a:p>
            <a:pPr algn="l"/>
            <a:r>
              <a:rPr sz="1700" b="1" i="0">
                <a:solidFill>
                  <a:srgbClr val="1B2340"/>
                </a:solidFill>
                <a:latin typeface="Calibri"/>
              </a:rPr>
              <a:t>Cách giải: dây nối xa tối đa 3 ô</a:t>
            </a:r>
          </a:p>
        </p:txBody>
      </p:sp>
      <p:sp>
        <p:nvSpPr>
          <p:cNvPr id="31" name="TextBox 30"/>
          <p:cNvSpPr txBox="1"/>
          <p:nvPr/>
        </p:nvSpPr>
        <p:spPr>
          <a:xfrm>
            <a:off x="7132320" y="3730752"/>
            <a:ext cx="4343400" cy="704087"/>
          </a:xfrm>
          <a:prstGeom prst="rect">
            <a:avLst/>
          </a:prstGeom>
          <a:noFill/>
        </p:spPr>
        <p:txBody>
          <a:bodyPr wrap="square" anchor="t" lIns="0" rIns="0" tIns="0" bIns="0">
            <a:spAutoFit/>
          </a:bodyPr>
          <a:lstStyle/>
          <a:p>
            <a:pPr algn="l"/>
            <a:r>
              <a:rPr sz="1500" b="0" i="0">
                <a:solidFill>
                  <a:srgbClr val="4A5468"/>
                </a:solidFill>
                <a:latin typeface="Calibri"/>
              </a:rPr>
              <a:t>Hai nút cùng hàng, cột hay đường chéo, cách ≤ 3 ô, thì được nối thẳng.</a:t>
            </a:r>
          </a:p>
        </p:txBody>
      </p:sp>
      <p:sp>
        <p:nvSpPr>
          <p:cNvPr id="32" name="Rounded Rectangle 31"/>
          <p:cNvSpPr/>
          <p:nvPr/>
        </p:nvSpPr>
        <p:spPr>
          <a:xfrm>
            <a:off x="6309360" y="4709160"/>
            <a:ext cx="5349240" cy="137160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92240" y="4892040"/>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34" name="TextBox 33"/>
          <p:cNvSpPr txBox="1"/>
          <p:nvPr/>
        </p:nvSpPr>
        <p:spPr>
          <a:xfrm>
            <a:off x="7132320" y="4892040"/>
            <a:ext cx="4343400" cy="365760"/>
          </a:xfrm>
          <a:prstGeom prst="rect">
            <a:avLst/>
          </a:prstGeom>
          <a:noFill/>
        </p:spPr>
        <p:txBody>
          <a:bodyPr wrap="square" anchor="t" lIns="0" rIns="0" tIns="0" bIns="0">
            <a:spAutoFit/>
          </a:bodyPr>
          <a:lstStyle/>
          <a:p>
            <a:pPr algn="l"/>
            <a:r>
              <a:rPr sz="1700" b="1" i="0">
                <a:solidFill>
                  <a:srgbClr val="1B2340"/>
                </a:solidFill>
                <a:latin typeface="Calibri"/>
              </a:rPr>
              <a:t>Dây mang theo 1 con số</a:t>
            </a:r>
          </a:p>
        </p:txBody>
      </p:sp>
      <p:sp>
        <p:nvSpPr>
          <p:cNvPr id="35" name="TextBox 34"/>
          <p:cNvSpPr txBox="1"/>
          <p:nvPr/>
        </p:nvSpPr>
        <p:spPr>
          <a:xfrm>
            <a:off x="7132320" y="5239512"/>
            <a:ext cx="4343400" cy="749808"/>
          </a:xfrm>
          <a:prstGeom prst="rect">
            <a:avLst/>
          </a:prstGeom>
          <a:noFill/>
        </p:spPr>
        <p:txBody>
          <a:bodyPr wrap="square" anchor="t" lIns="0" rIns="0" tIns="0" bIns="0">
            <a:spAutoFit/>
          </a:bodyPr>
          <a:lstStyle/>
          <a:p>
            <a:pPr algn="l"/>
            <a:r>
              <a:rPr sz="1500" b="0" i="0">
                <a:solidFill>
                  <a:srgbClr val="4A5468"/>
                </a:solidFill>
                <a:latin typeface="Calibri"/>
              </a:rPr>
              <a:t>Số ô trống nằm giữa hai đầu dây. Hướng và khoảng cách (1, 2, 3) được học riêng.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ALPHAGATEAU · CỜ VUA</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Mỗi dây nối là một nước đi</a:t>
            </a:r>
          </a:p>
        </p:txBody>
      </p:sp>
      <p:sp>
        <p:nvSpPr>
          <p:cNvPr id="4" name="Rectangle 3"/>
          <p:cNvSpPr/>
          <p:nvPr/>
        </p:nvSpPr>
        <p:spPr>
          <a:xfrm>
            <a:off x="1188720" y="4837176"/>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88720" y="4050791"/>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88720" y="3264408"/>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2478024"/>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8720" y="1691640"/>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975104" y="4837176"/>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975104" y="4050791"/>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75104" y="3264408"/>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75104" y="2478024"/>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75104" y="1691640"/>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61488" y="4837176"/>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61488" y="4050791"/>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61488" y="3264408"/>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61488" y="2478024"/>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61488" y="1691640"/>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47872" y="4837176"/>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547872" y="4050791"/>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47872" y="3264408"/>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547872" y="2478024"/>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47872" y="1691640"/>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34256" y="4837176"/>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4256" y="4050791"/>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34256" y="3264408"/>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34256" y="2478024"/>
            <a:ext cx="786384" cy="786384"/>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34256" y="1691640"/>
            <a:ext cx="786384" cy="786384"/>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3154680" y="3657600"/>
            <a:ext cx="1389888" cy="0"/>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54680" y="2267712"/>
            <a:ext cx="0" cy="1389888"/>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54680" y="2214147"/>
            <a:ext cx="1443452" cy="1443453"/>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154680" y="3657600"/>
            <a:ext cx="1443452" cy="1443452"/>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764792" y="3657600"/>
            <a:ext cx="1389888" cy="0"/>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154680" y="3657600"/>
            <a:ext cx="0" cy="1389888"/>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711227" y="3657600"/>
            <a:ext cx="1443453" cy="1443452"/>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711227" y="2214147"/>
            <a:ext cx="1443453" cy="1443453"/>
          </a:xfrm>
          <a:prstGeom prst="line">
            <a:avLst/>
          </a:prstGeom>
          <a:ln w="19050">
            <a:solidFill>
              <a:srgbClr val="4A5468"/>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154680" y="2248404"/>
            <a:ext cx="704597" cy="1409196"/>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154680" y="2953002"/>
            <a:ext cx="1409195" cy="704598"/>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154680" y="3657600"/>
            <a:ext cx="1409195" cy="704597"/>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154680" y="3657600"/>
            <a:ext cx="704597" cy="1409195"/>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2450082" y="3657600"/>
            <a:ext cx="704598" cy="1409195"/>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745484" y="3657600"/>
            <a:ext cx="1409196" cy="704597"/>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745484" y="2953002"/>
            <a:ext cx="1409196" cy="704598"/>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450082" y="2248404"/>
            <a:ext cx="704598" cy="1409196"/>
          </a:xfrm>
          <a:prstGeom prst="line">
            <a:avLst/>
          </a:prstGeom>
          <a:ln w="381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2871216" y="3374136"/>
            <a:ext cx="566928" cy="566928"/>
          </a:xfrm>
          <a:prstGeom prst="ellipse">
            <a:avLst/>
          </a:prstGeom>
          <a:solidFill>
            <a:srgbClr val="FFFFFF"/>
          </a:solidFill>
          <a:ln w="19050">
            <a:solidFill>
              <a:srgbClr val="1B23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88920" y="3355848"/>
            <a:ext cx="731520" cy="566928"/>
          </a:xfrm>
          <a:prstGeom prst="rect">
            <a:avLst/>
          </a:prstGeom>
          <a:noFill/>
        </p:spPr>
        <p:txBody>
          <a:bodyPr wrap="square" anchor="ctr" lIns="0" rIns="0" tIns="0" bIns="0">
            <a:spAutoFit/>
          </a:bodyPr>
          <a:lstStyle/>
          <a:p>
            <a:pPr algn="ctr"/>
            <a:r>
              <a:rPr sz="3000" b="0" i="0">
                <a:solidFill>
                  <a:srgbClr val="1B2340"/>
                </a:solidFill>
                <a:latin typeface="Segoe UI Symbol"/>
              </a:rPr>
              <a:t>♞</a:t>
            </a:r>
          </a:p>
        </p:txBody>
      </p:sp>
      <p:cxnSp>
        <p:nvCxnSpPr>
          <p:cNvPr id="47" name="Connector 46"/>
          <p:cNvCxnSpPr/>
          <p:nvPr/>
        </p:nvCxnSpPr>
        <p:spPr>
          <a:xfrm>
            <a:off x="914400" y="6126480"/>
            <a:ext cx="274320" cy="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280160" y="5989320"/>
            <a:ext cx="2743200" cy="274320"/>
          </a:xfrm>
          <a:prstGeom prst="rect">
            <a:avLst/>
          </a:prstGeom>
          <a:noFill/>
        </p:spPr>
        <p:txBody>
          <a:bodyPr wrap="square" anchor="ctr" lIns="0" rIns="0" tIns="0" bIns="0">
            <a:spAutoFit/>
          </a:bodyPr>
          <a:lstStyle/>
          <a:p>
            <a:pPr algn="l"/>
            <a:r>
              <a:rPr sz="1300" b="0" i="0">
                <a:solidFill>
                  <a:srgbClr val="4A5468"/>
                </a:solidFill>
                <a:latin typeface="Calibri"/>
              </a:rPr>
              <a:t>nước đi hợp lệ lúc này (mã)</a:t>
            </a:r>
          </a:p>
        </p:txBody>
      </p:sp>
      <p:cxnSp>
        <p:nvCxnSpPr>
          <p:cNvPr id="49" name="Connector 48"/>
          <p:cNvCxnSpPr/>
          <p:nvPr/>
        </p:nvCxnSpPr>
        <p:spPr>
          <a:xfrm>
            <a:off x="3794760" y="6126480"/>
            <a:ext cx="274320" cy="0"/>
          </a:xfrm>
          <a:prstGeom prst="line">
            <a:avLst/>
          </a:prstGeom>
          <a:ln w="19050">
            <a:solidFill>
              <a:srgbClr val="4A5468"/>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160520" y="5989320"/>
            <a:ext cx="2651760" cy="274320"/>
          </a:xfrm>
          <a:prstGeom prst="rect">
            <a:avLst/>
          </a:prstGeom>
          <a:noFill/>
        </p:spPr>
        <p:txBody>
          <a:bodyPr wrap="square" anchor="ctr" lIns="0" rIns="0" tIns="0" bIns="0">
            <a:spAutoFit/>
          </a:bodyPr>
          <a:lstStyle/>
          <a:p>
            <a:pPr algn="l"/>
            <a:r>
              <a:rPr sz="1300" b="0" i="0">
                <a:solidFill>
                  <a:srgbClr val="4A5468"/>
                </a:solidFill>
                <a:latin typeface="Calibri"/>
              </a:rPr>
              <a:t>có thể có, nhưng không hợp lệ</a:t>
            </a:r>
          </a:p>
        </p:txBody>
      </p:sp>
      <p:sp>
        <p:nvSpPr>
          <p:cNvPr id="51" name="Rounded Rectangle 50"/>
          <p:cNvSpPr/>
          <p:nvPr/>
        </p:nvSpPr>
        <p:spPr>
          <a:xfrm>
            <a:off x="6720840" y="1554480"/>
            <a:ext cx="49377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6903720" y="173736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53" name="TextBox 52"/>
          <p:cNvSpPr txBox="1"/>
          <p:nvPr/>
        </p:nvSpPr>
        <p:spPr>
          <a:xfrm>
            <a:off x="7543800" y="1737360"/>
            <a:ext cx="3931920" cy="365760"/>
          </a:xfrm>
          <a:prstGeom prst="rect">
            <a:avLst/>
          </a:prstGeom>
          <a:noFill/>
        </p:spPr>
        <p:txBody>
          <a:bodyPr wrap="square" anchor="t" lIns="0" rIns="0" tIns="0" bIns="0">
            <a:spAutoFit/>
          </a:bodyPr>
          <a:lstStyle/>
          <a:p>
            <a:pPr algn="l"/>
            <a:r>
              <a:rPr sz="1700" b="1" i="0">
                <a:solidFill>
                  <a:srgbClr val="1B2340"/>
                </a:solidFill>
                <a:latin typeface="Calibri"/>
              </a:rPr>
              <a:t>Nút: mọi ô</a:t>
            </a:r>
          </a:p>
        </p:txBody>
      </p:sp>
      <p:sp>
        <p:nvSpPr>
          <p:cNvPr id="54" name="TextBox 53"/>
          <p:cNvSpPr txBox="1"/>
          <p:nvPr/>
        </p:nvSpPr>
        <p:spPr>
          <a:xfrm>
            <a:off x="7543800" y="2084831"/>
            <a:ext cx="3931920" cy="475487"/>
          </a:xfrm>
          <a:prstGeom prst="rect">
            <a:avLst/>
          </a:prstGeom>
          <a:noFill/>
        </p:spPr>
        <p:txBody>
          <a:bodyPr wrap="square" anchor="t" lIns="0" rIns="0" tIns="0" bIns="0">
            <a:spAutoFit/>
          </a:bodyPr>
          <a:lstStyle/>
          <a:p>
            <a:pPr algn="l"/>
            <a:r>
              <a:rPr sz="1500" b="0" i="0">
                <a:solidFill>
                  <a:srgbClr val="4A5468"/>
                </a:solidFill>
                <a:latin typeface="Calibri"/>
              </a:rPr>
              <a:t>64 ô (bản nhỏ 5×5: 25 ô), nhớ cả 8 thế cờ gần nhất.</a:t>
            </a:r>
          </a:p>
        </p:txBody>
      </p:sp>
      <p:sp>
        <p:nvSpPr>
          <p:cNvPr id="55" name="Rounded Rectangle 54"/>
          <p:cNvSpPr/>
          <p:nvPr/>
        </p:nvSpPr>
        <p:spPr>
          <a:xfrm>
            <a:off x="6720840" y="2788920"/>
            <a:ext cx="493776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903720" y="297180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57" name="TextBox 56"/>
          <p:cNvSpPr txBox="1"/>
          <p:nvPr/>
        </p:nvSpPr>
        <p:spPr>
          <a:xfrm>
            <a:off x="7543800" y="2971800"/>
            <a:ext cx="3931920" cy="365760"/>
          </a:xfrm>
          <a:prstGeom prst="rect">
            <a:avLst/>
          </a:prstGeom>
          <a:noFill/>
        </p:spPr>
        <p:txBody>
          <a:bodyPr wrap="square" anchor="t" lIns="0" rIns="0" tIns="0" bIns="0">
            <a:spAutoFit/>
          </a:bodyPr>
          <a:lstStyle/>
          <a:p>
            <a:pPr algn="l"/>
            <a:r>
              <a:rPr sz="1700" b="1" i="0">
                <a:solidFill>
                  <a:srgbClr val="1B2340"/>
                </a:solidFill>
                <a:latin typeface="Calibri"/>
              </a:rPr>
              <a:t>Dây: mọi nước đi có thể có</a:t>
            </a:r>
          </a:p>
        </p:txBody>
      </p:sp>
      <p:sp>
        <p:nvSpPr>
          <p:cNvPr id="58" name="TextBox 57"/>
          <p:cNvSpPr txBox="1"/>
          <p:nvPr/>
        </p:nvSpPr>
        <p:spPr>
          <a:xfrm>
            <a:off x="7543800" y="3319272"/>
            <a:ext cx="3931920" cy="704087"/>
          </a:xfrm>
          <a:prstGeom prst="rect">
            <a:avLst/>
          </a:prstGeom>
          <a:noFill/>
        </p:spPr>
        <p:txBody>
          <a:bodyPr wrap="square" anchor="t" lIns="0" rIns="0" tIns="0" bIns="0">
            <a:spAutoFit/>
          </a:bodyPr>
          <a:lstStyle/>
          <a:p>
            <a:pPr algn="l"/>
            <a:r>
              <a:rPr sz="1500" b="0" i="0">
                <a:solidFill>
                  <a:srgbClr val="4A5468"/>
                </a:solidFill>
                <a:latin typeface="Calibri"/>
              </a:rPr>
              <a:t>Vẽ sẵn một lần, không đổi theo ván: 1.858 dây với bàn 8×8.</a:t>
            </a:r>
          </a:p>
        </p:txBody>
      </p:sp>
      <p:sp>
        <p:nvSpPr>
          <p:cNvPr id="59" name="Rounded Rectangle 58"/>
          <p:cNvSpPr/>
          <p:nvPr/>
        </p:nvSpPr>
        <p:spPr>
          <a:xfrm>
            <a:off x="6720840" y="4251960"/>
            <a:ext cx="49377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903720" y="443484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61" name="TextBox 60"/>
          <p:cNvSpPr txBox="1"/>
          <p:nvPr/>
        </p:nvSpPr>
        <p:spPr>
          <a:xfrm>
            <a:off x="7543800" y="4434840"/>
            <a:ext cx="3931920" cy="365760"/>
          </a:xfrm>
          <a:prstGeom prst="rect">
            <a:avLst/>
          </a:prstGeom>
          <a:noFill/>
        </p:spPr>
        <p:txBody>
          <a:bodyPr wrap="square" anchor="t" lIns="0" rIns="0" tIns="0" bIns="0">
            <a:spAutoFit/>
          </a:bodyPr>
          <a:lstStyle/>
          <a:p>
            <a:pPr algn="l"/>
            <a:r>
              <a:rPr sz="1700" b="1" i="0">
                <a:solidFill>
                  <a:srgbClr val="1B2340"/>
                </a:solidFill>
                <a:latin typeface="Calibri"/>
              </a:rPr>
              <a:t>Dây ghi: hợp lệ? đi bao xa? quân nào?</a:t>
            </a:r>
          </a:p>
        </p:txBody>
      </p:sp>
      <p:sp>
        <p:nvSpPr>
          <p:cNvPr id="62" name="TextBox 61"/>
          <p:cNvSpPr txBox="1"/>
          <p:nvPr/>
        </p:nvSpPr>
        <p:spPr>
          <a:xfrm>
            <a:off x="7543800" y="4782312"/>
            <a:ext cx="3931920" cy="475487"/>
          </a:xfrm>
          <a:prstGeom prst="rect">
            <a:avLst/>
          </a:prstGeom>
          <a:noFill/>
        </p:spPr>
        <p:txBody>
          <a:bodyPr wrap="square" anchor="t" lIns="0" rIns="0" tIns="0" bIns="0">
            <a:spAutoFit/>
          </a:bodyPr>
          <a:lstStyle/>
          <a:p>
            <a:pPr algn="l"/>
            <a:r>
              <a:rPr sz="1400" b="0" i="0">
                <a:solidFill>
                  <a:srgbClr val="4A5468"/>
                </a:solidFill>
                <a:latin typeface="Calibri"/>
              </a:rPr>
              <a:t>Chỉ thông tin “hợp lệ” thay đổi theo thế cờ.</a:t>
            </a:r>
          </a:p>
        </p:txBody>
      </p:sp>
      <p:sp>
        <p:nvSpPr>
          <p:cNvPr id="63" name="Rounded Rectangle 62"/>
          <p:cNvSpPr/>
          <p:nvPr/>
        </p:nvSpPr>
        <p:spPr>
          <a:xfrm>
            <a:off x="6720840" y="5486400"/>
            <a:ext cx="4937760" cy="100584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903720" y="566928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65" name="TextBox 64"/>
          <p:cNvSpPr txBox="1"/>
          <p:nvPr/>
        </p:nvSpPr>
        <p:spPr>
          <a:xfrm>
            <a:off x="7543800" y="5669280"/>
            <a:ext cx="3931920" cy="365760"/>
          </a:xfrm>
          <a:prstGeom prst="rect">
            <a:avLst/>
          </a:prstGeom>
          <a:noFill/>
        </p:spPr>
        <p:txBody>
          <a:bodyPr wrap="square" anchor="t" lIns="0" rIns="0" tIns="0" bIns="0">
            <a:spAutoFit/>
          </a:bodyPr>
          <a:lstStyle/>
          <a:p>
            <a:pPr algn="l"/>
            <a:r>
              <a:rPr sz="1700" b="1" i="0">
                <a:solidFill>
                  <a:srgbClr val="1B2340"/>
                </a:solidFill>
                <a:latin typeface="Calibri"/>
              </a:rPr>
              <a:t>Nước đi: đọc ngay trên dây</a:t>
            </a:r>
          </a:p>
        </p:txBody>
      </p:sp>
      <p:sp>
        <p:nvSpPr>
          <p:cNvPr id="66" name="TextBox 65"/>
          <p:cNvSpPr txBox="1"/>
          <p:nvPr/>
        </p:nvSpPr>
        <p:spPr>
          <a:xfrm>
            <a:off x="7543800" y="6016752"/>
            <a:ext cx="3931920" cy="384048"/>
          </a:xfrm>
          <a:prstGeom prst="rect">
            <a:avLst/>
          </a:prstGeom>
          <a:noFill/>
        </p:spPr>
        <p:txBody>
          <a:bodyPr wrap="square" anchor="t" lIns="0" rIns="0" tIns="0" bIns="0">
            <a:spAutoFit/>
          </a:bodyPr>
          <a:lstStyle/>
          <a:p>
            <a:pPr algn="l"/>
            <a:r>
              <a:rPr sz="1500" b="0" i="0">
                <a:solidFill>
                  <a:srgbClr val="4A5468"/>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ALPHAGATEAU · CỜ VUA</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Vì sao cách này hợp với cờ vua</a:t>
            </a:r>
          </a:p>
        </p:txBody>
      </p:sp>
      <p:sp>
        <p:nvSpPr>
          <p:cNvPr id="4" name="Rounded Rectangle 3"/>
          <p:cNvSpPr/>
          <p:nvPr/>
        </p:nvSpPr>
        <p:spPr>
          <a:xfrm>
            <a:off x="548640" y="1691640"/>
            <a:ext cx="3520440" cy="31089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2926080" cy="914400"/>
          </a:xfrm>
          <a:prstGeom prst="rect">
            <a:avLst/>
          </a:prstGeom>
          <a:noFill/>
        </p:spPr>
        <p:txBody>
          <a:bodyPr wrap="square" anchor="t" lIns="0" rIns="0" tIns="0" bIns="0">
            <a:spAutoFit/>
          </a:bodyPr>
          <a:lstStyle/>
          <a:p>
            <a:pPr algn="l"/>
            <a:r>
              <a:rPr sz="4000" b="1" i="0">
                <a:solidFill>
                  <a:srgbClr val="6C4AB6"/>
                </a:solidFill>
                <a:latin typeface="Cambria"/>
              </a:rPr>
              <a:t>1 vòng</a:t>
            </a:r>
          </a:p>
        </p:txBody>
      </p:sp>
      <p:sp>
        <p:nvSpPr>
          <p:cNvPr id="6" name="TextBox 5"/>
          <p:cNvSpPr txBox="1"/>
          <p:nvPr/>
        </p:nvSpPr>
        <p:spPr>
          <a:xfrm>
            <a:off x="868680" y="2880360"/>
            <a:ext cx="2926080" cy="411480"/>
          </a:xfrm>
          <a:prstGeom prst="rect">
            <a:avLst/>
          </a:prstGeom>
          <a:noFill/>
        </p:spPr>
        <p:txBody>
          <a:bodyPr wrap="square" anchor="t" lIns="0" rIns="0" tIns="0" bIns="0">
            <a:spAutoFit/>
          </a:bodyPr>
          <a:lstStyle/>
          <a:p>
            <a:pPr algn="l"/>
            <a:r>
              <a:rPr sz="1800" b="1" i="0">
                <a:solidFill>
                  <a:srgbClr val="1B2340"/>
                </a:solidFill>
                <a:latin typeface="Calibri"/>
              </a:rPr>
              <a:t>đã nhìn xa cả bàn</a:t>
            </a:r>
          </a:p>
        </p:txBody>
      </p:sp>
      <p:sp>
        <p:nvSpPr>
          <p:cNvPr id="7" name="TextBox 6"/>
          <p:cNvSpPr txBox="1"/>
          <p:nvPr/>
        </p:nvSpPr>
        <p:spPr>
          <a:xfrm>
            <a:off x="868680" y="3429000"/>
            <a:ext cx="2926080" cy="1280160"/>
          </a:xfrm>
          <a:prstGeom prst="rect">
            <a:avLst/>
          </a:prstGeom>
          <a:noFill/>
        </p:spPr>
        <p:txBody>
          <a:bodyPr wrap="square" anchor="t" lIns="0" rIns="0" tIns="0" bIns="0">
            <a:spAutoFit/>
          </a:bodyPr>
          <a:lstStyle/>
          <a:p>
            <a:pPr algn="l"/>
            <a:r>
              <a:rPr sz="1600" b="0" i="0">
                <a:solidFill>
                  <a:srgbClr val="4A5468"/>
                </a:solidFill>
                <a:latin typeface="Calibri"/>
              </a:rPr>
              <a:t>Xe ở a1 nghe được a8 ngay, vì có dây nối thẳng — không phải chờ tin lan từng ô.</a:t>
            </a:r>
          </a:p>
        </p:txBody>
      </p:sp>
      <p:sp>
        <p:nvSpPr>
          <p:cNvPr id="8" name="Rounded Rectangle 7"/>
          <p:cNvSpPr/>
          <p:nvPr/>
        </p:nvSpPr>
        <p:spPr>
          <a:xfrm>
            <a:off x="4343400" y="1691640"/>
            <a:ext cx="3520440" cy="31089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1965960"/>
            <a:ext cx="2926080" cy="914400"/>
          </a:xfrm>
          <a:prstGeom prst="rect">
            <a:avLst/>
          </a:prstGeom>
          <a:noFill/>
        </p:spPr>
        <p:txBody>
          <a:bodyPr wrap="square" anchor="t" lIns="0" rIns="0" tIns="0" bIns="0">
            <a:spAutoFit/>
          </a:bodyPr>
          <a:lstStyle/>
          <a:p>
            <a:pPr algn="l"/>
            <a:r>
              <a:rPr sz="4000" b="1" i="0">
                <a:solidFill>
                  <a:srgbClr val="6C4AB6"/>
                </a:solidFill>
                <a:latin typeface="Cambria"/>
              </a:rPr>
              <a:t>5×5 = 8×8</a:t>
            </a:r>
          </a:p>
        </p:txBody>
      </p:sp>
      <p:sp>
        <p:nvSpPr>
          <p:cNvPr id="10" name="TextBox 9"/>
          <p:cNvSpPr txBox="1"/>
          <p:nvPr/>
        </p:nvSpPr>
        <p:spPr>
          <a:xfrm>
            <a:off x="4663440" y="2880360"/>
            <a:ext cx="2926080" cy="411480"/>
          </a:xfrm>
          <a:prstGeom prst="rect">
            <a:avLst/>
          </a:prstGeom>
          <a:noFill/>
        </p:spPr>
        <p:txBody>
          <a:bodyPr wrap="square" anchor="t" lIns="0" rIns="0" tIns="0" bIns="0">
            <a:spAutoFit/>
          </a:bodyPr>
          <a:lstStyle/>
          <a:p>
            <a:pPr algn="l"/>
            <a:r>
              <a:rPr sz="1800" b="1" i="0">
                <a:solidFill>
                  <a:srgbClr val="1B2340"/>
                </a:solidFill>
                <a:latin typeface="Calibri"/>
              </a:rPr>
              <a:t>cùng một mạng</a:t>
            </a:r>
          </a:p>
        </p:txBody>
      </p:sp>
      <p:sp>
        <p:nvSpPr>
          <p:cNvPr id="11" name="TextBox 10"/>
          <p:cNvSpPr txBox="1"/>
          <p:nvPr/>
        </p:nvSpPr>
        <p:spPr>
          <a:xfrm>
            <a:off x="4663440" y="3429000"/>
            <a:ext cx="2926080" cy="1280160"/>
          </a:xfrm>
          <a:prstGeom prst="rect">
            <a:avLst/>
          </a:prstGeom>
          <a:noFill/>
        </p:spPr>
        <p:txBody>
          <a:bodyPr wrap="square" anchor="t" lIns="0" rIns="0" tIns="0" bIns="0">
            <a:spAutoFit/>
          </a:bodyPr>
          <a:lstStyle/>
          <a:p>
            <a:pPr algn="l"/>
            <a:r>
              <a:rPr sz="1600" b="0" i="0">
                <a:solidFill>
                  <a:srgbClr val="4A5468"/>
                </a:solidFill>
                <a:latin typeface="Calibri"/>
              </a:rPr>
              <a:t>Dây chỉ ghi “đi bao xa, theo hướng nào”, không gắn với ô cụ thể, nên đổi cỡ bàn vẫn chạy.</a:t>
            </a:r>
          </a:p>
        </p:txBody>
      </p:sp>
      <p:sp>
        <p:nvSpPr>
          <p:cNvPr id="12" name="Rounded Rectangle 11"/>
          <p:cNvSpPr/>
          <p:nvPr/>
        </p:nvSpPr>
        <p:spPr>
          <a:xfrm>
            <a:off x="8138160" y="1691640"/>
            <a:ext cx="3520440" cy="31089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1965960"/>
            <a:ext cx="2926080" cy="914400"/>
          </a:xfrm>
          <a:prstGeom prst="rect">
            <a:avLst/>
          </a:prstGeom>
          <a:noFill/>
        </p:spPr>
        <p:txBody>
          <a:bodyPr wrap="square" anchor="t" lIns="0" rIns="0" tIns="0" bIns="0">
            <a:spAutoFit/>
          </a:bodyPr>
          <a:lstStyle/>
          <a:p>
            <a:pPr algn="l"/>
            <a:r>
              <a:rPr sz="4000" b="1" i="0">
                <a:solidFill>
                  <a:srgbClr val="6C4AB6"/>
                </a:solidFill>
                <a:latin typeface="Cambria"/>
              </a:rPr>
              <a:t>Dây = nước</a:t>
            </a:r>
          </a:p>
        </p:txBody>
      </p:sp>
      <p:sp>
        <p:nvSpPr>
          <p:cNvPr id="14" name="TextBox 13"/>
          <p:cNvSpPr txBox="1"/>
          <p:nvPr/>
        </p:nvSpPr>
        <p:spPr>
          <a:xfrm>
            <a:off x="8458200" y="2880360"/>
            <a:ext cx="2926080" cy="411480"/>
          </a:xfrm>
          <a:prstGeom prst="rect">
            <a:avLst/>
          </a:prstGeom>
          <a:noFill/>
        </p:spPr>
        <p:txBody>
          <a:bodyPr wrap="square" anchor="t" lIns="0" rIns="0" tIns="0" bIns="0">
            <a:spAutoFit/>
          </a:bodyPr>
          <a:lstStyle/>
          <a:p>
            <a:pPr algn="l"/>
            <a:r>
              <a:rPr sz="1800" b="1" i="0">
                <a:solidFill>
                  <a:srgbClr val="1B2340"/>
                </a:solidFill>
                <a:latin typeface="Calibri"/>
              </a:rPr>
              <a:t>chấm điểm tự nhiên</a:t>
            </a:r>
          </a:p>
        </p:txBody>
      </p:sp>
      <p:sp>
        <p:nvSpPr>
          <p:cNvPr id="15" name="TextBox 14"/>
          <p:cNvSpPr txBox="1"/>
          <p:nvPr/>
        </p:nvSpPr>
        <p:spPr>
          <a:xfrm>
            <a:off x="8458200" y="3429000"/>
            <a:ext cx="2926080" cy="1280160"/>
          </a:xfrm>
          <a:prstGeom prst="rect">
            <a:avLst/>
          </a:prstGeom>
          <a:noFill/>
        </p:spPr>
        <p:txBody>
          <a:bodyPr wrap="square" anchor="t" lIns="0" rIns="0" tIns="0" bIns="0">
            <a:spAutoFit/>
          </a:bodyPr>
          <a:lstStyle/>
          <a:p>
            <a:pPr algn="l"/>
            <a:r>
              <a:rPr sz="1600" b="0" i="0">
                <a:solidFill>
                  <a:srgbClr val="4A5468"/>
                </a:solidFill>
                <a:latin typeface="Calibri"/>
              </a:rPr>
              <a:t>Nước đi trong cờ vua là “từ ô A tới ô B” — đúng bằng một dây.</a:t>
            </a:r>
          </a:p>
        </p:txBody>
      </p:sp>
      <p:sp>
        <p:nvSpPr>
          <p:cNvPr id="16" name="Rounded Rectangle 15"/>
          <p:cNvSpPr/>
          <p:nvPr/>
        </p:nvSpPr>
        <p:spPr>
          <a:xfrm>
            <a:off x="548640" y="5166360"/>
            <a:ext cx="11109960" cy="914400"/>
          </a:xfrm>
          <a:prstGeom prst="roundRect">
            <a:avLst>
              <a:gd name="adj" fmla="val 8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166360"/>
            <a:ext cx="10515600" cy="914400"/>
          </a:xfrm>
          <a:prstGeom prst="rect">
            <a:avLst/>
          </a:prstGeom>
          <a:noFill/>
        </p:spPr>
        <p:txBody>
          <a:bodyPr wrap="square" anchor="ctr" lIns="0" rIns="0" tIns="0" bIns="0">
            <a:spAutoFit/>
          </a:bodyPr>
          <a:lstStyle/>
          <a:p>
            <a:pPr algn="l"/>
            <a:r>
              <a:rPr sz="1700" b="1" i="0">
                <a:solidFill>
                  <a:srgbClr val="FFFFFF"/>
                </a:solidFill>
                <a:latin typeface="Calibri"/>
              </a:rPr>
              <a:t>Cả ba lợi thế đều dựa vào một điều: cờ vua có rất nhiều kiểu nước đi “từ ô này sang ô kia”. Connect 4 thì không.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ALPHAGATEAU → CONNECT 4</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Vấn đề: thả quân thì không có ô xuất phát</a:t>
            </a:r>
          </a:p>
        </p:txBody>
      </p:sp>
      <p:sp>
        <p:nvSpPr>
          <p:cNvPr id="4" name="Rounded Rectangle 3"/>
          <p:cNvSpPr/>
          <p:nvPr/>
        </p:nvSpPr>
        <p:spPr>
          <a:xfrm>
            <a:off x="548640" y="1600200"/>
            <a:ext cx="5394960" cy="333756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4846320" cy="365760"/>
          </a:xfrm>
          <a:prstGeom prst="rect">
            <a:avLst/>
          </a:prstGeom>
          <a:noFill/>
        </p:spPr>
        <p:txBody>
          <a:bodyPr wrap="square" anchor="t" lIns="0" rIns="0" tIns="0" bIns="0">
            <a:spAutoFit/>
          </a:bodyPr>
          <a:lstStyle/>
          <a:p>
            <a:pPr algn="l"/>
            <a:r>
              <a:rPr sz="1800" b="1" i="0">
                <a:solidFill>
                  <a:srgbClr val="6C4AB6"/>
                </a:solidFill>
                <a:latin typeface="Calibri"/>
              </a:rPr>
              <a:t>Cờ vua: đi từ ô A tới ô B</a:t>
            </a:r>
          </a:p>
        </p:txBody>
      </p:sp>
      <p:sp>
        <p:nvSpPr>
          <p:cNvPr id="6" name="Rectangle 5"/>
          <p:cNvSpPr/>
          <p:nvPr/>
        </p:nvSpPr>
        <p:spPr>
          <a:xfrm>
            <a:off x="1828800" y="36576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29718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0" y="22860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4600" y="36576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4600" y="29718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4600" y="22860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0" y="36576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29718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0" y="22860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6200" y="36576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886200" y="2971800"/>
            <a:ext cx="685800" cy="685800"/>
          </a:xfrm>
          <a:prstGeom prst="rect">
            <a:avLst/>
          </a:prstGeom>
          <a:solidFill>
            <a:srgbClr val="C9D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86200" y="2286000"/>
            <a:ext cx="685800" cy="685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171700" y="2747772"/>
            <a:ext cx="1874520" cy="1252728"/>
          </a:xfrm>
          <a:prstGeom prst="line">
            <a:avLst/>
          </a:prstGeom>
          <a:ln w="50800">
            <a:solidFill>
              <a:srgbClr val="6C4A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979676" y="3808476"/>
            <a:ext cx="384048" cy="384048"/>
          </a:xfrm>
          <a:prstGeom prst="ellipse">
            <a:avLst/>
          </a:prstGeom>
          <a:solidFill>
            <a:srgbClr val="FFFFFF"/>
          </a:solidFill>
          <a:ln w="12700">
            <a:solidFill>
              <a:srgbClr val="1B234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B2340"/>
                </a:solidFill>
                <a:latin typeface="Calibri"/>
              </a:rPr>
              <a:t>A</a:t>
            </a:r>
          </a:p>
        </p:txBody>
      </p:sp>
      <p:sp>
        <p:nvSpPr>
          <p:cNvPr id="20" name="Oval 19"/>
          <p:cNvSpPr/>
          <p:nvPr/>
        </p:nvSpPr>
        <p:spPr>
          <a:xfrm>
            <a:off x="4037076" y="2436876"/>
            <a:ext cx="384048" cy="384048"/>
          </a:xfrm>
          <a:prstGeom prst="ellipse">
            <a:avLst/>
          </a:prstGeom>
          <a:solidFill>
            <a:srgbClr val="FFFFFF"/>
          </a:solidFill>
          <a:ln w="12700">
            <a:solidFill>
              <a:srgbClr val="1B234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B2340"/>
                </a:solidFill>
                <a:latin typeface="Calibri"/>
              </a:rPr>
              <a:t>B</a:t>
            </a:r>
          </a:p>
        </p:txBody>
      </p:sp>
      <p:sp>
        <p:nvSpPr>
          <p:cNvPr id="21" name="Rounded Rectangle 20"/>
          <p:cNvSpPr/>
          <p:nvPr/>
        </p:nvSpPr>
        <p:spPr>
          <a:xfrm>
            <a:off x="6263640" y="1600200"/>
            <a:ext cx="5394960" cy="333756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1737360"/>
            <a:ext cx="4846320" cy="365760"/>
          </a:xfrm>
          <a:prstGeom prst="rect">
            <a:avLst/>
          </a:prstGeom>
          <a:noFill/>
        </p:spPr>
        <p:txBody>
          <a:bodyPr wrap="square" anchor="t" lIns="0" rIns="0" tIns="0" bIns="0">
            <a:spAutoFit/>
          </a:bodyPr>
          <a:lstStyle/>
          <a:p>
            <a:pPr algn="l"/>
            <a:r>
              <a:rPr sz="1800" b="1" i="0">
                <a:solidFill>
                  <a:srgbClr val="E63946"/>
                </a:solidFill>
                <a:latin typeface="Calibri"/>
              </a:rPr>
              <a:t>Connect 4: thả vào cột — từ đâu?</a:t>
            </a:r>
          </a:p>
        </p:txBody>
      </p:sp>
      <p:sp>
        <p:nvSpPr>
          <p:cNvPr id="23" name="Rounded Rectangle 22"/>
          <p:cNvSpPr/>
          <p:nvPr/>
        </p:nvSpPr>
        <p:spPr>
          <a:xfrm>
            <a:off x="7863840" y="2926079"/>
            <a:ext cx="2377440" cy="1828799"/>
          </a:xfrm>
          <a:prstGeom prst="roundRect">
            <a:avLst>
              <a:gd name="adj" fmla="val 5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15630" y="417515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015630" y="362651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15630" y="307787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564270" y="4175150"/>
            <a:ext cx="427939" cy="427939"/>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564270" y="3626510"/>
            <a:ext cx="427939" cy="427939"/>
          </a:xfrm>
          <a:prstGeom prst="ellipse">
            <a:avLst/>
          </a:prstGeom>
          <a:solidFill>
            <a:srgbClr val="FFFFFF"/>
          </a:solidFill>
          <a:ln w="31750">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64270" y="307787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112910" y="4175150"/>
            <a:ext cx="427939" cy="427939"/>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112910" y="3626510"/>
            <a:ext cx="427939" cy="427939"/>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12910" y="307787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61550" y="417515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61550" y="362651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61550" y="3077870"/>
            <a:ext cx="427939" cy="427939"/>
          </a:xfrm>
          <a:prstGeom prst="ellipse">
            <a:avLst/>
          </a:prstGeom>
          <a:solidFill>
            <a:srgbClr val="FFFFFF"/>
          </a:solidFill>
          <a:ln w="12700">
            <a:solidFill>
              <a:srgbClr val="142C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572500" y="2217419"/>
            <a:ext cx="411480" cy="411480"/>
          </a:xfrm>
          <a:prstGeom prst="ellipse">
            <a:avLst/>
          </a:prstGeom>
          <a:solidFill>
            <a:srgbClr val="E63946"/>
          </a:solidFill>
          <a:ln w="12700">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8778240" y="2670047"/>
            <a:ext cx="0" cy="548640"/>
          </a:xfrm>
          <a:prstGeom prst="line">
            <a:avLst/>
          </a:prstGeom>
          <a:ln w="38100">
            <a:solidFill>
              <a:srgbClr val="E639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098280" y="2240279"/>
            <a:ext cx="914400" cy="411480"/>
          </a:xfrm>
          <a:prstGeom prst="rect">
            <a:avLst/>
          </a:prstGeom>
          <a:noFill/>
        </p:spPr>
        <p:txBody>
          <a:bodyPr wrap="square" anchor="t" lIns="0" rIns="0" tIns="0" bIns="0">
            <a:spAutoFit/>
          </a:bodyPr>
          <a:lstStyle/>
          <a:p>
            <a:pPr algn="l"/>
            <a:r>
              <a:rPr sz="2800" b="1" i="0">
                <a:solidFill>
                  <a:srgbClr val="E63946"/>
                </a:solidFill>
                <a:latin typeface="Calibri"/>
              </a:rPr>
              <a:t>?</a:t>
            </a:r>
          </a:p>
        </p:txBody>
      </p:sp>
      <p:sp>
        <p:nvSpPr>
          <p:cNvPr id="39" name="Rounded Rectangle 38"/>
          <p:cNvSpPr/>
          <p:nvPr/>
        </p:nvSpPr>
        <p:spPr>
          <a:xfrm>
            <a:off x="548640" y="5212080"/>
            <a:ext cx="11109960" cy="1051560"/>
          </a:xfrm>
          <a:prstGeom prst="roundRect">
            <a:avLst>
              <a:gd name="adj" fmla="val 8000"/>
            </a:avLst>
          </a:prstGeom>
          <a:solidFill>
            <a:srgbClr val="FFFFFF"/>
          </a:solidFill>
          <a:ln w="12700">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349240"/>
            <a:ext cx="10515600" cy="822960"/>
          </a:xfrm>
          <a:prstGeom prst="rect">
            <a:avLst/>
          </a:prstGeom>
          <a:noFill/>
        </p:spPr>
        <p:txBody>
          <a:bodyPr wrap="square" anchor="ctr" lIns="0" rIns="0" tIns="0" bIns="0">
            <a:spAutoFit/>
          </a:bodyPr>
          <a:lstStyle/>
          <a:p>
            <a:pPr algn="l"/>
            <a:r>
              <a:rPr sz="1700" b="1" i="0">
                <a:solidFill>
                  <a:srgbClr val="1B2340"/>
                </a:solidFill>
                <a:latin typeface="Calibri"/>
              </a:rPr>
              <a:t>Bê nguyên “dây = nước đi” sang Connect 4: </a:t>
            </a:r>
            <a:r>
              <a:rPr sz="1700" b="0" i="0">
                <a:solidFill>
                  <a:srgbClr val="4A5468"/>
                </a:solidFill>
                <a:latin typeface="Calibri"/>
              </a:rPr>
              <a:t>không có dây nào nối các ô với nhau, nên các ô không thể “nói chuyện” — mạng không nhìn ra hàng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ALPHAGATEAU → CONNECT 4</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Cách sửa: thêm 7 nút “cột” và hai loại dây</a:t>
            </a:r>
          </a:p>
        </p:txBody>
      </p:sp>
      <p:sp>
        <p:nvSpPr>
          <p:cNvPr id="4" name="Rounded Rectangle 3"/>
          <p:cNvSpPr/>
          <p:nvPr/>
        </p:nvSpPr>
        <p:spPr>
          <a:xfrm>
            <a:off x="777240" y="2057400"/>
            <a:ext cx="4846320" cy="4206240"/>
          </a:xfrm>
          <a:prstGeom prst="roundRect">
            <a:avLst>
              <a:gd name="adj" fmla="val 4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3840480" y="4480560"/>
            <a:ext cx="1280160" cy="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840480" y="2560320"/>
            <a:ext cx="0" cy="192024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840480" y="3200400"/>
            <a:ext cx="1280160" cy="128016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40480" y="4480560"/>
            <a:ext cx="1280160" cy="128016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920239" y="4480560"/>
            <a:ext cx="1920241" cy="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0480" y="4480560"/>
            <a:ext cx="0" cy="128016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560320" y="4480560"/>
            <a:ext cx="1280160" cy="128016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920239" y="2560320"/>
            <a:ext cx="1920241" cy="192024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80160" y="1874520"/>
            <a:ext cx="0" cy="371337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20239" y="1874520"/>
            <a:ext cx="0" cy="371337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560320" y="1874520"/>
            <a:ext cx="0" cy="307329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00400" y="1874520"/>
            <a:ext cx="0" cy="243321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840480" y="1874520"/>
            <a:ext cx="0" cy="371337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480559" y="1874520"/>
            <a:ext cx="0" cy="371337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120640" y="1874520"/>
            <a:ext cx="0" cy="3713378"/>
          </a:xfrm>
          <a:prstGeom prst="line">
            <a:avLst/>
          </a:prstGeom>
          <a:ln w="31750">
            <a:solidFill>
              <a:srgbClr val="0F8F7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120139" y="560070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20139" y="496062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0139"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0139"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20139"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0139"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760219" y="560070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760219" y="496062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760219"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760219"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760219"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760219"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400300" y="5600700"/>
            <a:ext cx="320040" cy="320040"/>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400300" y="496062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400300"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400300"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400300"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00300"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40380" y="5600700"/>
            <a:ext cx="320040" cy="320040"/>
          </a:xfrm>
          <a:prstGeom prst="ellipse">
            <a:avLst/>
          </a:prstGeom>
          <a:solidFill>
            <a:srgbClr val="E63946"/>
          </a:solidFill>
          <a:ln w="15875">
            <a:solidFill>
              <a:srgbClr val="A416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40380" y="4960620"/>
            <a:ext cx="320040" cy="320040"/>
          </a:xfrm>
          <a:prstGeom prst="ellipse">
            <a:avLst/>
          </a:prstGeom>
          <a:solidFill>
            <a:srgbClr val="F2B705"/>
          </a:solidFill>
          <a:ln w="15875">
            <a:solidFill>
              <a:srgbClr val="B98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040380" y="432054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040380"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040380"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040380"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680460" y="560070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680460" y="496062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680460"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80460"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680460"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680460"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320540" y="560070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320540" y="496062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320540"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320540"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320540"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320540"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60620" y="5600700"/>
            <a:ext cx="320040" cy="320040"/>
          </a:xfrm>
          <a:prstGeom prst="ellipse">
            <a:avLst/>
          </a:prstGeom>
          <a:solidFill>
            <a:srgbClr val="FFFFFF"/>
          </a:solidFill>
          <a:ln w="28575">
            <a:solidFill>
              <a:srgbClr val="0F8F7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960620" y="496062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960620" y="432054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960620" y="368046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960620" y="304038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960620" y="2400300"/>
            <a:ext cx="320040" cy="320040"/>
          </a:xfrm>
          <a:prstGeom prst="ellipse">
            <a:avLst/>
          </a:prstGeom>
          <a:solidFill>
            <a:srgbClr val="FFFFFF"/>
          </a:solidFill>
          <a:ln w="15875">
            <a:solidFill>
              <a:srgbClr val="B4B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680460" y="4320540"/>
            <a:ext cx="320040" cy="320040"/>
          </a:xfrm>
          <a:prstGeom prst="ellipse">
            <a:avLst/>
          </a:prstGeom>
          <a:solidFill>
            <a:srgbClr val="FFFFFF"/>
          </a:solidFill>
          <a:ln w="38100">
            <a:solidFill>
              <a:srgbClr val="6C4A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1078992"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78992"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0</a:t>
            </a:r>
          </a:p>
        </p:txBody>
      </p:sp>
      <p:sp>
        <p:nvSpPr>
          <p:cNvPr id="65" name="Rounded Rectangle 64"/>
          <p:cNvSpPr/>
          <p:nvPr/>
        </p:nvSpPr>
        <p:spPr>
          <a:xfrm>
            <a:off x="1719071"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719071"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1</a:t>
            </a:r>
          </a:p>
        </p:txBody>
      </p:sp>
      <p:sp>
        <p:nvSpPr>
          <p:cNvPr id="67" name="Rounded Rectangle 66"/>
          <p:cNvSpPr/>
          <p:nvPr/>
        </p:nvSpPr>
        <p:spPr>
          <a:xfrm>
            <a:off x="2359151"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359151"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2</a:t>
            </a:r>
          </a:p>
        </p:txBody>
      </p:sp>
      <p:sp>
        <p:nvSpPr>
          <p:cNvPr id="69" name="Rounded Rectangle 68"/>
          <p:cNvSpPr/>
          <p:nvPr/>
        </p:nvSpPr>
        <p:spPr>
          <a:xfrm>
            <a:off x="2999232"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999232"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3</a:t>
            </a:r>
          </a:p>
        </p:txBody>
      </p:sp>
      <p:sp>
        <p:nvSpPr>
          <p:cNvPr id="71" name="Rounded Rectangle 70"/>
          <p:cNvSpPr/>
          <p:nvPr/>
        </p:nvSpPr>
        <p:spPr>
          <a:xfrm>
            <a:off x="3639312"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39312"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4</a:t>
            </a:r>
          </a:p>
        </p:txBody>
      </p:sp>
      <p:sp>
        <p:nvSpPr>
          <p:cNvPr id="73" name="Rounded Rectangle 72"/>
          <p:cNvSpPr/>
          <p:nvPr/>
        </p:nvSpPr>
        <p:spPr>
          <a:xfrm>
            <a:off x="4279392"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79392"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5</a:t>
            </a:r>
          </a:p>
        </p:txBody>
      </p:sp>
      <p:sp>
        <p:nvSpPr>
          <p:cNvPr id="75" name="Rounded Rectangle 74"/>
          <p:cNvSpPr/>
          <p:nvPr/>
        </p:nvSpPr>
        <p:spPr>
          <a:xfrm>
            <a:off x="4919472" y="1490472"/>
            <a:ext cx="402336" cy="402336"/>
          </a:xfrm>
          <a:prstGeom prst="roundRect">
            <a:avLst>
              <a:gd name="adj" fmla="val 20000"/>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919472" y="1490472"/>
            <a:ext cx="402336" cy="402336"/>
          </a:xfrm>
          <a:prstGeom prst="rect">
            <a:avLst/>
          </a:prstGeom>
          <a:noFill/>
        </p:spPr>
        <p:txBody>
          <a:bodyPr wrap="square" anchor="ctr" lIns="0" rIns="0" tIns="0" bIns="0">
            <a:spAutoFit/>
          </a:bodyPr>
          <a:lstStyle/>
          <a:p>
            <a:pPr algn="ctr"/>
            <a:r>
              <a:rPr sz="1400" b="1" i="0">
                <a:solidFill>
                  <a:srgbClr val="FFFFFF"/>
                </a:solidFill>
                <a:latin typeface="Calibri"/>
              </a:rPr>
              <a:t>6</a:t>
            </a:r>
          </a:p>
        </p:txBody>
      </p:sp>
      <p:cxnSp>
        <p:nvCxnSpPr>
          <p:cNvPr id="77" name="Connector 76"/>
          <p:cNvCxnSpPr/>
          <p:nvPr/>
        </p:nvCxnSpPr>
        <p:spPr>
          <a:xfrm>
            <a:off x="914400" y="6400800"/>
            <a:ext cx="274320" cy="0"/>
          </a:xfrm>
          <a:prstGeom prst="line">
            <a:avLst/>
          </a:prstGeom>
          <a:ln w="31750">
            <a:solidFill>
              <a:srgbClr val="0F8F7E"/>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0160" y="6263640"/>
            <a:ext cx="2743200" cy="274320"/>
          </a:xfrm>
          <a:prstGeom prst="rect">
            <a:avLst/>
          </a:prstGeom>
          <a:noFill/>
        </p:spPr>
        <p:txBody>
          <a:bodyPr wrap="square" anchor="ctr" lIns="0" rIns="0" tIns="0" bIns="0">
            <a:spAutoFit/>
          </a:bodyPr>
          <a:lstStyle/>
          <a:p>
            <a:pPr algn="l"/>
            <a:r>
              <a:rPr sz="1300" b="0" i="0">
                <a:solidFill>
                  <a:srgbClr val="4A5468"/>
                </a:solidFill>
                <a:latin typeface="Calibri"/>
              </a:rPr>
              <a:t>dây “thả” đang hợp lệ</a:t>
            </a:r>
          </a:p>
        </p:txBody>
      </p:sp>
      <p:cxnSp>
        <p:nvCxnSpPr>
          <p:cNvPr id="79" name="Connector 78"/>
          <p:cNvCxnSpPr/>
          <p:nvPr/>
        </p:nvCxnSpPr>
        <p:spPr>
          <a:xfrm>
            <a:off x="3657600" y="6400800"/>
            <a:ext cx="274320" cy="0"/>
          </a:xfrm>
          <a:prstGeom prst="line">
            <a:avLst/>
          </a:prstGeom>
          <a:ln w="31750">
            <a:solidFill>
              <a:srgbClr val="6C4AB6"/>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4023360" y="6263640"/>
            <a:ext cx="2743200" cy="274320"/>
          </a:xfrm>
          <a:prstGeom prst="rect">
            <a:avLst/>
          </a:prstGeom>
          <a:noFill/>
        </p:spPr>
        <p:txBody>
          <a:bodyPr wrap="square" anchor="ctr" lIns="0" rIns="0" tIns="0" bIns="0">
            <a:spAutoFit/>
          </a:bodyPr>
          <a:lstStyle/>
          <a:p>
            <a:pPr algn="l"/>
            <a:r>
              <a:rPr sz="1300" b="0" i="0">
                <a:solidFill>
                  <a:srgbClr val="4A5468"/>
                </a:solidFill>
                <a:latin typeface="Calibri"/>
              </a:rPr>
              <a:t>dây “đường thắng”</a:t>
            </a:r>
          </a:p>
        </p:txBody>
      </p:sp>
      <p:sp>
        <p:nvSpPr>
          <p:cNvPr id="81" name="Rounded Rectangle 80"/>
          <p:cNvSpPr/>
          <p:nvPr/>
        </p:nvSpPr>
        <p:spPr>
          <a:xfrm>
            <a:off x="6720840" y="1554480"/>
            <a:ext cx="4937760" cy="10972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903720" y="173736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83" name="TextBox 82"/>
          <p:cNvSpPr txBox="1"/>
          <p:nvPr/>
        </p:nvSpPr>
        <p:spPr>
          <a:xfrm>
            <a:off x="7543800" y="1737360"/>
            <a:ext cx="3931920" cy="365760"/>
          </a:xfrm>
          <a:prstGeom prst="rect">
            <a:avLst/>
          </a:prstGeom>
          <a:noFill/>
        </p:spPr>
        <p:txBody>
          <a:bodyPr wrap="square" anchor="t" lIns="0" rIns="0" tIns="0" bIns="0">
            <a:spAutoFit/>
          </a:bodyPr>
          <a:lstStyle/>
          <a:p>
            <a:pPr algn="l"/>
            <a:r>
              <a:rPr sz="1700" b="1" i="0">
                <a:solidFill>
                  <a:srgbClr val="1B2340"/>
                </a:solidFill>
                <a:latin typeface="Calibri"/>
              </a:rPr>
              <a:t>Nút: 42 ô + 7 nút cột</a:t>
            </a:r>
          </a:p>
        </p:txBody>
      </p:sp>
      <p:sp>
        <p:nvSpPr>
          <p:cNvPr id="84" name="TextBox 83"/>
          <p:cNvSpPr txBox="1"/>
          <p:nvPr/>
        </p:nvSpPr>
        <p:spPr>
          <a:xfrm>
            <a:off x="7543800" y="2084831"/>
            <a:ext cx="3931920" cy="475487"/>
          </a:xfrm>
          <a:prstGeom prst="rect">
            <a:avLst/>
          </a:prstGeom>
          <a:noFill/>
        </p:spPr>
        <p:txBody>
          <a:bodyPr wrap="square" anchor="t" lIns="0" rIns="0" tIns="0" bIns="0">
            <a:spAutoFit/>
          </a:bodyPr>
          <a:lstStyle/>
          <a:p>
            <a:pPr algn="l"/>
            <a:r>
              <a:rPr sz="1500" b="0" i="0">
                <a:solidFill>
                  <a:srgbClr val="4A5468"/>
                </a:solidFill>
                <a:latin typeface="Calibri"/>
              </a:rPr>
              <a:t>Nút cột đóng vai “ô xuất phát” của nước thả.</a:t>
            </a:r>
          </a:p>
        </p:txBody>
      </p:sp>
      <p:sp>
        <p:nvSpPr>
          <p:cNvPr id="85" name="Rounded Rectangle 84"/>
          <p:cNvSpPr/>
          <p:nvPr/>
        </p:nvSpPr>
        <p:spPr>
          <a:xfrm>
            <a:off x="6720840" y="2788920"/>
            <a:ext cx="493776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6903720" y="2971800"/>
            <a:ext cx="457200" cy="45720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87" name="TextBox 86"/>
          <p:cNvSpPr txBox="1"/>
          <p:nvPr/>
        </p:nvSpPr>
        <p:spPr>
          <a:xfrm>
            <a:off x="7543800" y="2971800"/>
            <a:ext cx="3931920" cy="365760"/>
          </a:xfrm>
          <a:prstGeom prst="rect">
            <a:avLst/>
          </a:prstGeom>
          <a:noFill/>
        </p:spPr>
        <p:txBody>
          <a:bodyPr wrap="square" anchor="t" lIns="0" rIns="0" tIns="0" bIns="0">
            <a:spAutoFit/>
          </a:bodyPr>
          <a:lstStyle/>
          <a:p>
            <a:pPr algn="l"/>
            <a:r>
              <a:rPr sz="1700" b="1" i="0">
                <a:solidFill>
                  <a:srgbClr val="1B2340"/>
                </a:solidFill>
                <a:latin typeface="Calibri"/>
              </a:rPr>
              <a:t>Dây “thả”: cột → ô</a:t>
            </a:r>
          </a:p>
        </p:txBody>
      </p:sp>
      <p:sp>
        <p:nvSpPr>
          <p:cNvPr id="88" name="TextBox 87"/>
          <p:cNvSpPr txBox="1"/>
          <p:nvPr/>
        </p:nvSpPr>
        <p:spPr>
          <a:xfrm>
            <a:off x="7543800" y="3319272"/>
            <a:ext cx="3931920" cy="704087"/>
          </a:xfrm>
          <a:prstGeom prst="rect">
            <a:avLst/>
          </a:prstGeom>
          <a:noFill/>
        </p:spPr>
        <p:txBody>
          <a:bodyPr wrap="square" anchor="t" lIns="0" rIns="0" tIns="0" bIns="0">
            <a:spAutoFit/>
          </a:bodyPr>
          <a:lstStyle/>
          <a:p>
            <a:pPr algn="l"/>
            <a:r>
              <a:rPr sz="1500" b="0" i="0">
                <a:solidFill>
                  <a:srgbClr val="4A5468"/>
                </a:solidFill>
                <a:latin typeface="Calibri"/>
              </a:rPr>
              <a:t>42 dây cố định; dây tới ô sắp rơi vào được đánh dấu “hợp lệ”.</a:t>
            </a:r>
          </a:p>
        </p:txBody>
      </p:sp>
      <p:sp>
        <p:nvSpPr>
          <p:cNvPr id="89" name="Rounded Rectangle 88"/>
          <p:cNvSpPr/>
          <p:nvPr/>
        </p:nvSpPr>
        <p:spPr>
          <a:xfrm>
            <a:off x="6720840" y="4251960"/>
            <a:ext cx="4937760" cy="132588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903720" y="443484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91" name="TextBox 90"/>
          <p:cNvSpPr txBox="1"/>
          <p:nvPr/>
        </p:nvSpPr>
        <p:spPr>
          <a:xfrm>
            <a:off x="7543800" y="4434840"/>
            <a:ext cx="3931920" cy="365760"/>
          </a:xfrm>
          <a:prstGeom prst="rect">
            <a:avLst/>
          </a:prstGeom>
          <a:noFill/>
        </p:spPr>
        <p:txBody>
          <a:bodyPr wrap="square" anchor="t" lIns="0" rIns="0" tIns="0" bIns="0">
            <a:spAutoFit/>
          </a:bodyPr>
          <a:lstStyle/>
          <a:p>
            <a:pPr algn="l"/>
            <a:r>
              <a:rPr sz="1700" b="1" i="0">
                <a:solidFill>
                  <a:srgbClr val="1B2340"/>
                </a:solidFill>
                <a:latin typeface="Calibri"/>
              </a:rPr>
              <a:t>Dây “đường thắng”: ô ↔ ô</a:t>
            </a:r>
          </a:p>
        </p:txBody>
      </p:sp>
      <p:sp>
        <p:nvSpPr>
          <p:cNvPr id="92" name="TextBox 91"/>
          <p:cNvSpPr txBox="1"/>
          <p:nvPr/>
        </p:nvSpPr>
        <p:spPr>
          <a:xfrm>
            <a:off x="7543800" y="4782312"/>
            <a:ext cx="3931920" cy="704087"/>
          </a:xfrm>
          <a:prstGeom prst="rect">
            <a:avLst/>
          </a:prstGeom>
          <a:noFill/>
        </p:spPr>
        <p:txBody>
          <a:bodyPr wrap="square" anchor="t" lIns="0" rIns="0" tIns="0" bIns="0">
            <a:spAutoFit/>
          </a:bodyPr>
          <a:lstStyle/>
          <a:p>
            <a:pPr algn="l"/>
            <a:r>
              <a:rPr sz="1500" b="0" i="0">
                <a:solidFill>
                  <a:srgbClr val="4A5468"/>
                </a:solidFill>
                <a:latin typeface="Calibri"/>
              </a:rPr>
              <a:t>Nối hai ô cách ≤ 3 trên một đường thẳng — có thể cùng nằm trong một hàng 4.</a:t>
            </a:r>
          </a:p>
        </p:txBody>
      </p:sp>
      <p:sp>
        <p:nvSpPr>
          <p:cNvPr id="93" name="Rounded Rectangle 92"/>
          <p:cNvSpPr/>
          <p:nvPr/>
        </p:nvSpPr>
        <p:spPr>
          <a:xfrm>
            <a:off x="6720840" y="5715000"/>
            <a:ext cx="4937760" cy="8229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903720" y="5897880"/>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95" name="TextBox 94"/>
          <p:cNvSpPr txBox="1"/>
          <p:nvPr/>
        </p:nvSpPr>
        <p:spPr>
          <a:xfrm>
            <a:off x="7543800" y="5897880"/>
            <a:ext cx="3931920" cy="365760"/>
          </a:xfrm>
          <a:prstGeom prst="rect">
            <a:avLst/>
          </a:prstGeom>
          <a:noFill/>
        </p:spPr>
        <p:txBody>
          <a:bodyPr wrap="square" anchor="t" lIns="0" rIns="0" tIns="0" bIns="0">
            <a:spAutoFit/>
          </a:bodyPr>
          <a:lstStyle/>
          <a:p>
            <a:pPr algn="l"/>
            <a:r>
              <a:rPr sz="1700" b="1" i="0">
                <a:solidFill>
                  <a:srgbClr val="1B2340"/>
                </a:solidFill>
                <a:latin typeface="Calibri"/>
              </a:rPr>
              <a:t>Nước đi: đọc trên dây “thả” hợp lệ</a:t>
            </a:r>
          </a:p>
        </p:txBody>
      </p:sp>
      <p:sp>
        <p:nvSpPr>
          <p:cNvPr id="96" name="TextBox 95"/>
          <p:cNvSpPr txBox="1"/>
          <p:nvPr/>
        </p:nvSpPr>
        <p:spPr>
          <a:xfrm>
            <a:off x="7543800" y="6245352"/>
            <a:ext cx="3931920" cy="201167"/>
          </a:xfrm>
          <a:prstGeom prst="rect">
            <a:avLst/>
          </a:prstGeom>
          <a:noFill/>
        </p:spPr>
        <p:txBody>
          <a:bodyPr wrap="square" anchor="t" lIns="0" rIns="0" tIns="0" bIns="0">
            <a:spAutoFit/>
          </a:bodyPr>
          <a:lstStyle/>
          <a:p>
            <a:pPr algn="l"/>
            <a:r>
              <a:rPr sz="1500" b="0" i="0">
                <a:solidFill>
                  <a:srgbClr val="4A5468"/>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ALPHAGATEAU → CONNECT 4</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Đem sang thì được gì, mất gì</a:t>
            </a:r>
          </a:p>
        </p:txBody>
      </p:sp>
      <p:sp>
        <p:nvSpPr>
          <p:cNvPr id="4" name="Oval 3"/>
          <p:cNvSpPr/>
          <p:nvPr/>
        </p:nvSpPr>
        <p:spPr>
          <a:xfrm>
            <a:off x="594359" y="1554480"/>
            <a:ext cx="457200" cy="457200"/>
          </a:xfrm>
          <a:prstGeom prst="ellipse">
            <a:avLst/>
          </a:prstGeom>
          <a:solidFill>
            <a:srgbClr val="0F8F7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5" name="TextBox 4"/>
          <p:cNvSpPr txBox="1"/>
          <p:nvPr/>
        </p:nvSpPr>
        <p:spPr>
          <a:xfrm>
            <a:off x="1188719" y="1572768"/>
            <a:ext cx="3657600" cy="411480"/>
          </a:xfrm>
          <a:prstGeom prst="rect">
            <a:avLst/>
          </a:prstGeom>
          <a:noFill/>
        </p:spPr>
        <p:txBody>
          <a:bodyPr wrap="square" anchor="t" lIns="0" rIns="0" tIns="0" bIns="0">
            <a:spAutoFit/>
          </a:bodyPr>
          <a:lstStyle/>
          <a:p>
            <a:pPr algn="l"/>
            <a:r>
              <a:rPr sz="2200" b="1" i="0">
                <a:solidFill>
                  <a:srgbClr val="0F8F7E"/>
                </a:solidFill>
                <a:latin typeface="Calibri"/>
              </a:rPr>
              <a:t>Được</a:t>
            </a:r>
          </a:p>
        </p:txBody>
      </p:sp>
      <p:sp>
        <p:nvSpPr>
          <p:cNvPr id="6" name="Rounded Rectangle 5"/>
          <p:cNvSpPr/>
          <p:nvPr/>
        </p:nvSpPr>
        <p:spPr>
          <a:xfrm>
            <a:off x="548640" y="228600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395728"/>
            <a:ext cx="4937760" cy="365760"/>
          </a:xfrm>
          <a:prstGeom prst="rect">
            <a:avLst/>
          </a:prstGeom>
          <a:noFill/>
        </p:spPr>
        <p:txBody>
          <a:bodyPr wrap="square" anchor="t" lIns="0" rIns="0" tIns="0" bIns="0">
            <a:spAutoFit/>
          </a:bodyPr>
          <a:lstStyle/>
          <a:p>
            <a:pPr algn="l"/>
            <a:r>
              <a:rPr sz="1700" b="1" i="0">
                <a:solidFill>
                  <a:srgbClr val="1B2340"/>
                </a:solidFill>
                <a:latin typeface="Calibri"/>
              </a:rPr>
              <a:t>Dây có “trí nhớ” riêng</a:t>
            </a:r>
          </a:p>
        </p:txBody>
      </p:sp>
      <p:sp>
        <p:nvSpPr>
          <p:cNvPr id="8" name="TextBox 7"/>
          <p:cNvSpPr txBox="1"/>
          <p:nvPr/>
        </p:nvSpPr>
        <p:spPr>
          <a:xfrm>
            <a:off x="822959" y="2761488"/>
            <a:ext cx="4937760" cy="548640"/>
          </a:xfrm>
          <a:prstGeom prst="rect">
            <a:avLst/>
          </a:prstGeom>
          <a:noFill/>
        </p:spPr>
        <p:txBody>
          <a:bodyPr wrap="square" anchor="t" lIns="0" rIns="0" tIns="0" bIns="0">
            <a:spAutoFit/>
          </a:bodyPr>
          <a:lstStyle/>
          <a:p>
            <a:pPr algn="l"/>
            <a:r>
              <a:rPr sz="1500" b="0" i="0">
                <a:solidFill>
                  <a:srgbClr val="4A5468"/>
                </a:solidFill>
                <a:latin typeface="Calibri"/>
              </a:rPr>
              <a:t>Dây được cập nhật mỗi vòng, ví dụ học “đoạn này còn mở hay đã bị chặn”.</a:t>
            </a:r>
          </a:p>
        </p:txBody>
      </p:sp>
      <p:sp>
        <p:nvSpPr>
          <p:cNvPr id="9" name="Rounded Rectangle 8"/>
          <p:cNvSpPr/>
          <p:nvPr/>
        </p:nvSpPr>
        <p:spPr>
          <a:xfrm>
            <a:off x="548640" y="347472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3584448"/>
            <a:ext cx="4937760" cy="365760"/>
          </a:xfrm>
          <a:prstGeom prst="rect">
            <a:avLst/>
          </a:prstGeom>
          <a:noFill/>
        </p:spPr>
        <p:txBody>
          <a:bodyPr wrap="square" anchor="t" lIns="0" rIns="0" tIns="0" bIns="0">
            <a:spAutoFit/>
          </a:bodyPr>
          <a:lstStyle/>
          <a:p>
            <a:pPr algn="l"/>
            <a:r>
              <a:rPr sz="1700" b="1" i="0">
                <a:solidFill>
                  <a:srgbClr val="1B2340"/>
                </a:solidFill>
                <a:latin typeface="Calibri"/>
              </a:rPr>
              <a:t>Tự chọn nghe ai nhiều hơn</a:t>
            </a:r>
          </a:p>
        </p:txBody>
      </p:sp>
      <p:sp>
        <p:nvSpPr>
          <p:cNvPr id="11" name="TextBox 10"/>
          <p:cNvSpPr txBox="1"/>
          <p:nvPr/>
        </p:nvSpPr>
        <p:spPr>
          <a:xfrm>
            <a:off x="822959" y="3950208"/>
            <a:ext cx="4937760" cy="548640"/>
          </a:xfrm>
          <a:prstGeom prst="rect">
            <a:avLst/>
          </a:prstGeom>
          <a:noFill/>
        </p:spPr>
        <p:txBody>
          <a:bodyPr wrap="square" anchor="t" lIns="0" rIns="0" tIns="0" bIns="0">
            <a:spAutoFit/>
          </a:bodyPr>
          <a:lstStyle/>
          <a:p>
            <a:pPr algn="l"/>
            <a:r>
              <a:rPr sz="1500" b="0" i="0">
                <a:solidFill>
                  <a:srgbClr val="4A5468"/>
                </a:solidFill>
                <a:latin typeface="Calibri"/>
              </a:rPr>
              <a:t>Cơ chế attention cho mỗi nút chú ý tới dây quan trọng.</a:t>
            </a:r>
          </a:p>
        </p:txBody>
      </p:sp>
      <p:sp>
        <p:nvSpPr>
          <p:cNvPr id="12" name="Rounded Rectangle 11"/>
          <p:cNvSpPr/>
          <p:nvPr/>
        </p:nvSpPr>
        <p:spPr>
          <a:xfrm>
            <a:off x="548640" y="466344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773168"/>
            <a:ext cx="4937760" cy="365760"/>
          </a:xfrm>
          <a:prstGeom prst="rect">
            <a:avLst/>
          </a:prstGeom>
          <a:noFill/>
        </p:spPr>
        <p:txBody>
          <a:bodyPr wrap="square" anchor="t" lIns="0" rIns="0" tIns="0" bIns="0">
            <a:spAutoFit/>
          </a:bodyPr>
          <a:lstStyle/>
          <a:p>
            <a:pPr algn="l"/>
            <a:r>
              <a:rPr sz="1700" b="1" i="0">
                <a:solidFill>
                  <a:srgbClr val="1B2340"/>
                </a:solidFill>
                <a:latin typeface="Calibri"/>
              </a:rPr>
              <a:t>Đổi cỡ bàn không cần sửa</a:t>
            </a:r>
          </a:p>
        </p:txBody>
      </p:sp>
      <p:sp>
        <p:nvSpPr>
          <p:cNvPr id="14" name="TextBox 13"/>
          <p:cNvSpPr txBox="1"/>
          <p:nvPr/>
        </p:nvSpPr>
        <p:spPr>
          <a:xfrm>
            <a:off x="822959" y="5138927"/>
            <a:ext cx="4937760" cy="548640"/>
          </a:xfrm>
          <a:prstGeom prst="rect">
            <a:avLst/>
          </a:prstGeom>
          <a:noFill/>
        </p:spPr>
        <p:txBody>
          <a:bodyPr wrap="square" anchor="t" lIns="0" rIns="0" tIns="0" bIns="0">
            <a:spAutoFit/>
          </a:bodyPr>
          <a:lstStyle/>
          <a:p>
            <a:pPr algn="l"/>
            <a:r>
              <a:rPr sz="1500" b="0" i="0">
                <a:solidFill>
                  <a:srgbClr val="4A5468"/>
                </a:solidFill>
                <a:latin typeface="Calibri"/>
              </a:rPr>
              <a:t>Dây chỉ ghi hướng và khoảng cách.</a:t>
            </a:r>
          </a:p>
        </p:txBody>
      </p:sp>
      <p:sp>
        <p:nvSpPr>
          <p:cNvPr id="15" name="Oval 14"/>
          <p:cNvSpPr/>
          <p:nvPr/>
        </p:nvSpPr>
        <p:spPr>
          <a:xfrm>
            <a:off x="6263640" y="1554480"/>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16" name="TextBox 15"/>
          <p:cNvSpPr txBox="1"/>
          <p:nvPr/>
        </p:nvSpPr>
        <p:spPr>
          <a:xfrm>
            <a:off x="6858000" y="1572768"/>
            <a:ext cx="3657600" cy="411480"/>
          </a:xfrm>
          <a:prstGeom prst="rect">
            <a:avLst/>
          </a:prstGeom>
          <a:noFill/>
        </p:spPr>
        <p:txBody>
          <a:bodyPr wrap="square" anchor="t" lIns="0" rIns="0" tIns="0" bIns="0">
            <a:spAutoFit/>
          </a:bodyPr>
          <a:lstStyle/>
          <a:p>
            <a:pPr algn="l"/>
            <a:r>
              <a:rPr sz="2200" b="1" i="0">
                <a:solidFill>
                  <a:srgbClr val="E63946"/>
                </a:solidFill>
                <a:latin typeface="Calibri"/>
              </a:rPr>
              <a:t>Mất</a:t>
            </a:r>
          </a:p>
        </p:txBody>
      </p:sp>
      <p:sp>
        <p:nvSpPr>
          <p:cNvPr id="17" name="Rounded Rectangle 16"/>
          <p:cNvSpPr/>
          <p:nvPr/>
        </p:nvSpPr>
        <p:spPr>
          <a:xfrm>
            <a:off x="6217920" y="228600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395728"/>
            <a:ext cx="4937760" cy="365760"/>
          </a:xfrm>
          <a:prstGeom prst="rect">
            <a:avLst/>
          </a:prstGeom>
          <a:noFill/>
        </p:spPr>
        <p:txBody>
          <a:bodyPr wrap="square" anchor="t" lIns="0" rIns="0" tIns="0" bIns="0">
            <a:spAutoFit/>
          </a:bodyPr>
          <a:lstStyle/>
          <a:p>
            <a:pPr algn="l"/>
            <a:r>
              <a:rPr sz="1700" b="1" i="0">
                <a:solidFill>
                  <a:srgbClr val="1B2340"/>
                </a:solidFill>
                <a:latin typeface="Calibri"/>
              </a:rPr>
              <a:t>Ý tưởng chính gần như vô dụng</a:t>
            </a:r>
          </a:p>
        </p:txBody>
      </p:sp>
      <p:sp>
        <p:nvSpPr>
          <p:cNvPr id="19" name="TextBox 18"/>
          <p:cNvSpPr txBox="1"/>
          <p:nvPr/>
        </p:nvSpPr>
        <p:spPr>
          <a:xfrm>
            <a:off x="6492240" y="2761488"/>
            <a:ext cx="4937760" cy="548640"/>
          </a:xfrm>
          <a:prstGeom prst="rect">
            <a:avLst/>
          </a:prstGeom>
          <a:noFill/>
        </p:spPr>
        <p:txBody>
          <a:bodyPr wrap="square" anchor="t" lIns="0" rIns="0" tIns="0" bIns="0">
            <a:spAutoFit/>
          </a:bodyPr>
          <a:lstStyle/>
          <a:p>
            <a:pPr algn="l"/>
            <a:r>
              <a:rPr sz="1500" b="0" i="0">
                <a:solidFill>
                  <a:srgbClr val="4A5468"/>
                </a:solidFill>
                <a:latin typeface="Calibri"/>
              </a:rPr>
              <a:t>Chỉ có 7 nước, mỗi nước tới đúng 1 ô — đọc ở dây hay ở ô cũng như nhau.</a:t>
            </a:r>
          </a:p>
        </p:txBody>
      </p:sp>
      <p:sp>
        <p:nvSpPr>
          <p:cNvPr id="20" name="Rounded Rectangle 19"/>
          <p:cNvSpPr/>
          <p:nvPr/>
        </p:nvSpPr>
        <p:spPr>
          <a:xfrm>
            <a:off x="6217920" y="347472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584448"/>
            <a:ext cx="4937760" cy="365760"/>
          </a:xfrm>
          <a:prstGeom prst="rect">
            <a:avLst/>
          </a:prstGeom>
          <a:noFill/>
        </p:spPr>
        <p:txBody>
          <a:bodyPr wrap="square" anchor="t" lIns="0" rIns="0" tIns="0" bIns="0">
            <a:spAutoFit/>
          </a:bodyPr>
          <a:lstStyle/>
          <a:p>
            <a:pPr algn="l"/>
            <a:r>
              <a:rPr sz="1700" b="1" i="0">
                <a:solidFill>
                  <a:srgbClr val="1B2340"/>
                </a:solidFill>
                <a:latin typeface="Calibri"/>
              </a:rPr>
              <a:t>Chậm hơn khi tự chơi</a:t>
            </a:r>
          </a:p>
        </p:txBody>
      </p:sp>
      <p:sp>
        <p:nvSpPr>
          <p:cNvPr id="22" name="TextBox 21"/>
          <p:cNvSpPr txBox="1"/>
          <p:nvPr/>
        </p:nvSpPr>
        <p:spPr>
          <a:xfrm>
            <a:off x="6492240" y="3950208"/>
            <a:ext cx="4937760" cy="548640"/>
          </a:xfrm>
          <a:prstGeom prst="rect">
            <a:avLst/>
          </a:prstGeom>
          <a:noFill/>
        </p:spPr>
        <p:txBody>
          <a:bodyPr wrap="square" anchor="t" lIns="0" rIns="0" tIns="0" bIns="0">
            <a:spAutoFit/>
          </a:bodyPr>
          <a:lstStyle/>
          <a:p>
            <a:pPr algn="l"/>
            <a:r>
              <a:rPr sz="1500" b="0" i="0">
                <a:solidFill>
                  <a:srgbClr val="4A5468"/>
                </a:solidFill>
                <a:latin typeface="Calibri"/>
              </a:rPr>
              <a:t>Phép tính kiểu đồ thị thưa chậm hơn tích chập trên bàn nhỏ 7×6.</a:t>
            </a:r>
          </a:p>
        </p:txBody>
      </p:sp>
      <p:sp>
        <p:nvSpPr>
          <p:cNvPr id="23" name="Rounded Rectangle 22"/>
          <p:cNvSpPr/>
          <p:nvPr/>
        </p:nvSpPr>
        <p:spPr>
          <a:xfrm>
            <a:off x="6217920" y="4663440"/>
            <a:ext cx="5440680" cy="1051560"/>
          </a:xfrm>
          <a:prstGeom prst="roundRect">
            <a:avLst>
              <a:gd name="adj" fmla="val 8000"/>
            </a:avLst>
          </a:prstGeom>
          <a:solidFill>
            <a:srgbClr val="EEF2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773168"/>
            <a:ext cx="4937760" cy="365760"/>
          </a:xfrm>
          <a:prstGeom prst="rect">
            <a:avLst/>
          </a:prstGeom>
          <a:noFill/>
        </p:spPr>
        <p:txBody>
          <a:bodyPr wrap="square" anchor="t" lIns="0" rIns="0" tIns="0" bIns="0">
            <a:spAutoFit/>
          </a:bodyPr>
          <a:lstStyle/>
          <a:p>
            <a:pPr algn="l"/>
            <a:r>
              <a:rPr sz="1700" b="1" i="0">
                <a:solidFill>
                  <a:srgbClr val="1B2340"/>
                </a:solidFill>
                <a:latin typeface="Calibri"/>
              </a:rPr>
              <a:t>Dây “đường thắng” ≈ dây nhìn xa của PP1</a:t>
            </a:r>
          </a:p>
        </p:txBody>
      </p:sp>
      <p:sp>
        <p:nvSpPr>
          <p:cNvPr id="25" name="TextBox 24"/>
          <p:cNvSpPr txBox="1"/>
          <p:nvPr/>
        </p:nvSpPr>
        <p:spPr>
          <a:xfrm>
            <a:off x="6492240" y="5138927"/>
            <a:ext cx="4937760" cy="548640"/>
          </a:xfrm>
          <a:prstGeom prst="rect">
            <a:avLst/>
          </a:prstGeom>
          <a:noFill/>
        </p:spPr>
        <p:txBody>
          <a:bodyPr wrap="square" anchor="t" lIns="0" rIns="0" tIns="0" bIns="0">
            <a:spAutoFit/>
          </a:bodyPr>
          <a:lstStyle/>
          <a:p>
            <a:pPr algn="l"/>
            <a:r>
              <a:rPr sz="1500" b="0" i="0">
                <a:solidFill>
                  <a:srgbClr val="4A5468"/>
                </a:solidFill>
                <a:latin typeface="Calibri"/>
              </a:rPr>
              <a:t>Khác ở chỗ vẫn giữ đủ 42 ô, không bỏ ô trống.</a:t>
            </a:r>
          </a:p>
        </p:txBody>
      </p:sp>
      <p:sp>
        <p:nvSpPr>
          <p:cNvPr id="26" name="Rounded Rectangle 25"/>
          <p:cNvSpPr/>
          <p:nvPr/>
        </p:nvSpPr>
        <p:spPr>
          <a:xfrm>
            <a:off x="548640" y="5852160"/>
            <a:ext cx="11109960" cy="640080"/>
          </a:xfrm>
          <a:prstGeom prst="roundRect">
            <a:avLst>
              <a:gd name="adj" fmla="val 8000"/>
            </a:avLst>
          </a:prstGeom>
          <a:solidFill>
            <a:srgbClr val="1D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852160"/>
            <a:ext cx="10607040" cy="640080"/>
          </a:xfrm>
          <a:prstGeom prst="rect">
            <a:avLst/>
          </a:prstGeom>
          <a:noFill/>
        </p:spPr>
        <p:txBody>
          <a:bodyPr wrap="square" anchor="ctr" lIns="0" rIns="0" tIns="0" bIns="0">
            <a:spAutoFit/>
          </a:bodyPr>
          <a:lstStyle/>
          <a:p>
            <a:pPr algn="l"/>
            <a:r>
              <a:rPr sz="1600" b="1" i="0">
                <a:solidFill>
                  <a:srgbClr val="FFFFFF"/>
                </a:solidFill>
                <a:latin typeface="Calibri"/>
              </a:rPr>
              <a:t>Tóm lại: bản Connect 4 của AlphaGateau nằm giữa PP2 và PP1 — điểm mới thật sự là dây có thông tin riêng và attention.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320040"/>
          </a:xfrm>
          <a:prstGeom prst="rect">
            <a:avLst/>
          </a:prstGeom>
          <a:noFill/>
        </p:spPr>
        <p:txBody>
          <a:bodyPr wrap="square" anchor="t" lIns="0" rIns="0" tIns="0" bIns="0">
            <a:spAutoFit/>
          </a:bodyPr>
          <a:lstStyle/>
          <a:p>
            <a:pPr algn="l"/>
            <a:r>
              <a:rPr sz="1300" b="1" i="0">
                <a:solidFill>
                  <a:srgbClr val="0F8F7E"/>
                </a:solidFill>
                <a:latin typeface="Calibri"/>
              </a:rPr>
              <a:t>TỔNG KẾT</a:t>
            </a:r>
          </a:p>
        </p:txBody>
      </p:sp>
      <p:sp>
        <p:nvSpPr>
          <p:cNvPr id="3" name="TextBox 2"/>
          <p:cNvSpPr txBox="1"/>
          <p:nvPr/>
        </p:nvSpPr>
        <p:spPr>
          <a:xfrm>
            <a:off x="548640" y="640080"/>
            <a:ext cx="11064240" cy="685800"/>
          </a:xfrm>
          <a:prstGeom prst="rect">
            <a:avLst/>
          </a:prstGeom>
          <a:noFill/>
        </p:spPr>
        <p:txBody>
          <a:bodyPr wrap="square" anchor="t" lIns="0" rIns="0" tIns="0" bIns="0">
            <a:spAutoFit/>
          </a:bodyPr>
          <a:lstStyle/>
          <a:p>
            <a:pPr algn="l"/>
            <a:r>
              <a:rPr sz="3000" b="1" i="0">
                <a:solidFill>
                  <a:srgbClr val="1B2340"/>
                </a:solidFill>
                <a:latin typeface="Cambria"/>
              </a:rPr>
              <a:t>Ba cách đặt cạnh nhau</a:t>
            </a:r>
          </a:p>
        </p:txBody>
      </p:sp>
      <p:graphicFrame>
        <p:nvGraphicFramePr>
          <p:cNvPr id="4" name="Table 3"/>
          <p:cNvGraphicFramePr>
            <a:graphicFrameLocks noGrp="1"/>
          </p:cNvGraphicFramePr>
          <p:nvPr/>
        </p:nvGraphicFramePr>
        <p:xfrm>
          <a:off x="548640" y="1600200"/>
          <a:ext cx="11109960" cy="4572000"/>
        </p:xfrm>
        <a:graphic>
          <a:graphicData uri="http://schemas.openxmlformats.org/drawingml/2006/table">
            <a:tbl>
              <a:tblPr firstRow="1" bandRow="1">
                <a:tableStyleId>{5C22544A-7EE6-4342-B048-85BDC9FD1C3A}</a:tableStyleId>
              </a:tblPr>
              <a:tblGrid>
                <a:gridCol w="2514600"/>
                <a:gridCol w="2743200"/>
                <a:gridCol w="2926080"/>
                <a:gridCol w="2926080"/>
              </a:tblGrid>
              <a:tr h="914400">
                <a:tc>
                  <a:txBody>
                    <a:bodyPr wrap="square"/>
                    <a:lstStyle/>
                    <a:p>
                      <a:r>
                        <a:rPr sz="1700" b="1">
                          <a:solidFill>
                            <a:srgbClr val="FFFFFF"/>
                          </a:solidFill>
                          <a:latin typeface="Calibri"/>
                        </a:rPr>
                        <a:t/>
                      </a:r>
                    </a:p>
                  </a:txBody>
                  <a:tcPr anchor="ctr" marL="137160" marR="137160">
                    <a:solidFill>
                      <a:srgbClr val="FFFFFF"/>
                    </a:solidFill>
                  </a:tcPr>
                </a:tc>
                <a:tc>
                  <a:txBody>
                    <a:bodyPr wrap="square"/>
                    <a:lstStyle/>
                    <a:p>
                      <a:r>
                        <a:rPr sz="1700" b="1">
                          <a:solidFill>
                            <a:srgbClr val="FFFFFF"/>
                          </a:solidFill>
                          <a:latin typeface="Calibri"/>
                        </a:rPr>
                        <a:t>Phương pháp 2</a:t>
                      </a:r>
                    </a:p>
                    <a:p>
                      <a:r>
                        <a:rPr sz="1500" b="0">
                          <a:solidFill>
                            <a:srgbClr val="FFFFFF"/>
                          </a:solidFill>
                          <a:latin typeface="Calibri"/>
                        </a:rPr>
                        <a:t>Lưới cố định</a:t>
                      </a:r>
                    </a:p>
                  </a:txBody>
                  <a:tcPr anchor="ctr" marL="137160" marR="137160">
                    <a:solidFill>
                      <a:srgbClr val="1D3F8C"/>
                    </a:solidFill>
                  </a:tcPr>
                </a:tc>
                <a:tc>
                  <a:txBody>
                    <a:bodyPr wrap="square"/>
                    <a:lstStyle/>
                    <a:p>
                      <a:r>
                        <a:rPr sz="1700" b="1">
                          <a:solidFill>
                            <a:srgbClr val="FFFFFF"/>
                          </a:solidFill>
                          <a:latin typeface="Calibri"/>
                        </a:rPr>
                        <a:t>Phương pháp 1</a:t>
                      </a:r>
                    </a:p>
                    <a:p>
                      <a:r>
                        <a:rPr sz="1500" b="0">
                          <a:solidFill>
                            <a:srgbClr val="FFFFFF"/>
                          </a:solidFill>
                          <a:latin typeface="Calibri"/>
                        </a:rPr>
                        <a:t>Đồ thị động</a:t>
                      </a:r>
                    </a:p>
                  </a:txBody>
                  <a:tcPr anchor="ctr" marL="137160" marR="137160">
                    <a:solidFill>
                      <a:srgbClr val="0F8F7E"/>
                    </a:solidFill>
                  </a:tcPr>
                </a:tc>
                <a:tc>
                  <a:txBody>
                    <a:bodyPr wrap="square"/>
                    <a:lstStyle/>
                    <a:p>
                      <a:r>
                        <a:rPr sz="1700" b="1">
                          <a:solidFill>
                            <a:srgbClr val="FFFFFF"/>
                          </a:solidFill>
                          <a:latin typeface="Calibri"/>
                        </a:rPr>
                        <a:t>AlphaGateau</a:t>
                      </a:r>
                    </a:p>
                  </a:txBody>
                  <a:tcPr anchor="ctr" marL="137160" marR="137160">
                    <a:solidFill>
                      <a:srgbClr val="6C4AB6"/>
                    </a:solidFill>
                  </a:tcPr>
                </a:tc>
              </a:tr>
              <a:tr h="731520">
                <a:tc>
                  <a:txBody>
                    <a:bodyPr wrap="square"/>
                    <a:lstStyle/>
                    <a:p>
                      <a:r>
                        <a:rPr sz="1500" b="1">
                          <a:solidFill>
                            <a:srgbClr val="1B2340"/>
                          </a:solidFill>
                          <a:latin typeface="Calibri"/>
                        </a:rPr>
                        <a:t>Nút là gì?</a:t>
                      </a:r>
                    </a:p>
                  </a:txBody>
                  <a:tcPr anchor="ctr" marL="137160" marR="137160">
                    <a:solidFill>
                      <a:srgbClr val="EEF2FA"/>
                    </a:solidFill>
                  </a:tcPr>
                </a:tc>
                <a:tc>
                  <a:txBody>
                    <a:bodyPr wrap="square"/>
                    <a:lstStyle/>
                    <a:p>
                      <a:r>
                        <a:rPr sz="1500" b="0">
                          <a:solidFill>
                            <a:srgbClr val="1B2340"/>
                          </a:solidFill>
                          <a:latin typeface="Calibri"/>
                        </a:rPr>
                        <a:t>Mọi ô (42)</a:t>
                      </a:r>
                    </a:p>
                  </a:txBody>
                  <a:tcPr anchor="ctr" marL="137160" marR="137160">
                    <a:solidFill>
                      <a:srgbClr val="EEF2FA"/>
                    </a:solidFill>
                  </a:tcPr>
                </a:tc>
                <a:tc>
                  <a:txBody>
                    <a:bodyPr wrap="square"/>
                    <a:lstStyle/>
                    <a:p>
                      <a:r>
                        <a:rPr sz="1500" b="0">
                          <a:solidFill>
                            <a:srgbClr val="1B2340"/>
                          </a:solidFill>
                          <a:latin typeface="Calibri"/>
                        </a:rPr>
                        <a:t>Quân đã đặt + 7 ô sắp rơi vào</a:t>
                      </a:r>
                    </a:p>
                  </a:txBody>
                  <a:tcPr anchor="ctr" marL="137160" marR="137160">
                    <a:solidFill>
                      <a:srgbClr val="EEF2FA"/>
                    </a:solidFill>
                  </a:tcPr>
                </a:tc>
                <a:tc>
                  <a:txBody>
                    <a:bodyPr wrap="square"/>
                    <a:lstStyle/>
                    <a:p>
                      <a:r>
                        <a:rPr sz="1500" b="0">
                          <a:solidFill>
                            <a:srgbClr val="1B2340"/>
                          </a:solidFill>
                          <a:latin typeface="Calibri"/>
                        </a:rPr>
                        <a:t>Mọi ô (cờ vua: 64)</a:t>
                      </a:r>
                    </a:p>
                  </a:txBody>
                  <a:tcPr anchor="ctr" marL="137160" marR="137160">
                    <a:solidFill>
                      <a:srgbClr val="EEF2FA"/>
                    </a:solidFill>
                  </a:tcPr>
                </a:tc>
              </a:tr>
              <a:tr h="731520">
                <a:tc>
                  <a:txBody>
                    <a:bodyPr wrap="square"/>
                    <a:lstStyle/>
                    <a:p>
                      <a:r>
                        <a:rPr sz="1500" b="1">
                          <a:solidFill>
                            <a:srgbClr val="1B2340"/>
                          </a:solidFill>
                          <a:latin typeface="Calibri"/>
                        </a:rPr>
                        <a:t>Nối gì với gì?</a:t>
                      </a:r>
                    </a:p>
                  </a:txBody>
                  <a:tcPr anchor="ctr" marL="137160" marR="137160">
                    <a:solidFill>
                      <a:srgbClr val="FFFFFF"/>
                    </a:solidFill>
                  </a:tcPr>
                </a:tc>
                <a:tc>
                  <a:txBody>
                    <a:bodyPr wrap="square"/>
                    <a:lstStyle/>
                    <a:p>
                      <a:r>
                        <a:rPr sz="1500" b="0">
                          <a:solidFill>
                            <a:srgbClr val="1B2340"/>
                          </a:solidFill>
                          <a:latin typeface="Calibri"/>
                        </a:rPr>
                        <a:t>8 ô xung quanh</a:t>
                      </a:r>
                    </a:p>
                  </a:txBody>
                  <a:tcPr anchor="ctr" marL="137160" marR="137160">
                    <a:solidFill>
                      <a:srgbClr val="FFFFFF"/>
                    </a:solidFill>
                  </a:tcPr>
                </a:tc>
                <a:tc>
                  <a:txBody>
                    <a:bodyPr wrap="square"/>
                    <a:lstStyle/>
                    <a:p>
                      <a:r>
                        <a:rPr sz="1500" b="0">
                          <a:solidFill>
                            <a:srgbClr val="1B2340"/>
                          </a:solidFill>
                          <a:latin typeface="Calibri"/>
                        </a:rPr>
                        <a:t>Ô cùng đường thẳng, cách ≤ 3</a:t>
                      </a:r>
                    </a:p>
                  </a:txBody>
                  <a:tcPr anchor="ctr" marL="137160" marR="137160">
                    <a:solidFill>
                      <a:srgbClr val="FFFFFF"/>
                    </a:solidFill>
                  </a:tcPr>
                </a:tc>
                <a:tc>
                  <a:txBody>
                    <a:bodyPr wrap="square"/>
                    <a:lstStyle/>
                    <a:p>
                      <a:r>
                        <a:rPr sz="1500" b="0">
                          <a:solidFill>
                            <a:srgbClr val="1B2340"/>
                          </a:solidFill>
                          <a:latin typeface="Calibri"/>
                        </a:rPr>
                        <a:t>Mọi nước đi có thể có</a:t>
                      </a:r>
                    </a:p>
                  </a:txBody>
                  <a:tcPr anchor="ctr" marL="137160" marR="137160">
                    <a:solidFill>
                      <a:srgbClr val="FFFFFF"/>
                    </a:solidFill>
                  </a:tcPr>
                </a:tc>
              </a:tr>
              <a:tr h="731520">
                <a:tc>
                  <a:txBody>
                    <a:bodyPr wrap="square"/>
                    <a:lstStyle/>
                    <a:p>
                      <a:r>
                        <a:rPr sz="1500" b="1">
                          <a:solidFill>
                            <a:srgbClr val="1B2340"/>
                          </a:solidFill>
                          <a:latin typeface="Calibri"/>
                        </a:rPr>
                        <a:t>Đồ thị đổi theo ván?</a:t>
                      </a:r>
                    </a:p>
                  </a:txBody>
                  <a:tcPr anchor="ctr" marL="137160" marR="137160">
                    <a:solidFill>
                      <a:srgbClr val="EEF2FA"/>
                    </a:solidFill>
                  </a:tcPr>
                </a:tc>
                <a:tc>
                  <a:txBody>
                    <a:bodyPr wrap="square"/>
                    <a:lstStyle/>
                    <a:p>
                      <a:r>
                        <a:rPr sz="1500" b="0">
                          <a:solidFill>
                            <a:srgbClr val="1B2340"/>
                          </a:solidFill>
                          <a:latin typeface="Calibri"/>
                        </a:rPr>
                        <a:t>Không</a:t>
                      </a:r>
                    </a:p>
                  </a:txBody>
                  <a:tcPr anchor="ctr" marL="137160" marR="137160">
                    <a:solidFill>
                      <a:srgbClr val="EEF2FA"/>
                    </a:solidFill>
                  </a:tcPr>
                </a:tc>
                <a:tc>
                  <a:txBody>
                    <a:bodyPr wrap="square"/>
                    <a:lstStyle/>
                    <a:p>
                      <a:r>
                        <a:rPr sz="1500" b="0">
                          <a:solidFill>
                            <a:srgbClr val="1B2340"/>
                          </a:solidFill>
                          <a:latin typeface="Calibri"/>
                        </a:rPr>
                        <a:t>Có</a:t>
                      </a:r>
                    </a:p>
                  </a:txBody>
                  <a:tcPr anchor="ctr" marL="137160" marR="137160">
                    <a:solidFill>
                      <a:srgbClr val="EEF2FA"/>
                    </a:solidFill>
                  </a:tcPr>
                </a:tc>
                <a:tc>
                  <a:txBody>
                    <a:bodyPr wrap="square"/>
                    <a:lstStyle/>
                    <a:p>
                      <a:r>
                        <a:rPr sz="1500" b="0">
                          <a:solidFill>
                            <a:srgbClr val="1B2340"/>
                          </a:solidFill>
                          <a:latin typeface="Calibri"/>
                        </a:rPr>
                        <a:t>Không (chỉ “hợp lệ” đổi)</a:t>
                      </a:r>
                    </a:p>
                  </a:txBody>
                  <a:tcPr anchor="ctr" marL="137160" marR="137160">
                    <a:solidFill>
                      <a:srgbClr val="EEF2FA"/>
                    </a:solidFill>
                  </a:tcPr>
                </a:tc>
              </a:tr>
              <a:tr h="731520">
                <a:tc>
                  <a:txBody>
                    <a:bodyPr wrap="square"/>
                    <a:lstStyle/>
                    <a:p>
                      <a:r>
                        <a:rPr sz="1500" b="1">
                          <a:solidFill>
                            <a:srgbClr val="1B2340"/>
                          </a:solidFill>
                          <a:latin typeface="Calibri"/>
                        </a:rPr>
                        <a:t>Dây mang thông tin?</a:t>
                      </a:r>
                    </a:p>
                  </a:txBody>
                  <a:tcPr anchor="ctr" marL="137160" marR="137160">
                    <a:solidFill>
                      <a:srgbClr val="FFFFFF"/>
                    </a:solidFill>
                  </a:tcPr>
                </a:tc>
                <a:tc>
                  <a:txBody>
                    <a:bodyPr wrap="square"/>
                    <a:lstStyle/>
                    <a:p>
                      <a:r>
                        <a:rPr sz="1500" b="0">
                          <a:solidFill>
                            <a:srgbClr val="1B2340"/>
                          </a:solidFill>
                          <a:latin typeface="Calibri"/>
                        </a:rPr>
                        <a:t>Không</a:t>
                      </a:r>
                    </a:p>
                  </a:txBody>
                  <a:tcPr anchor="ctr" marL="137160" marR="137160">
                    <a:solidFill>
                      <a:srgbClr val="FFFFFF"/>
                    </a:solidFill>
                  </a:tcPr>
                </a:tc>
                <a:tc>
                  <a:txBody>
                    <a:bodyPr wrap="square"/>
                    <a:lstStyle/>
                    <a:p>
                      <a:r>
                        <a:rPr sz="1500" b="0">
                          <a:solidFill>
                            <a:srgbClr val="1B2340"/>
                          </a:solidFill>
                          <a:latin typeface="Calibri"/>
                        </a:rPr>
                        <a:t>Số ô trống ở giữa</a:t>
                      </a:r>
                    </a:p>
                  </a:txBody>
                  <a:tcPr anchor="ctr" marL="137160" marR="137160">
                    <a:solidFill>
                      <a:srgbClr val="FFFFFF"/>
                    </a:solidFill>
                  </a:tcPr>
                </a:tc>
                <a:tc>
                  <a:txBody>
                    <a:bodyPr wrap="square"/>
                    <a:lstStyle/>
                    <a:p>
                      <a:r>
                        <a:rPr sz="1500" b="0">
                          <a:solidFill>
                            <a:srgbClr val="1B2340"/>
                          </a:solidFill>
                          <a:latin typeface="Calibri"/>
                        </a:rPr>
                        <a:t>Nhiều: hợp lệ, hướng, loại quân</a:t>
                      </a:r>
                    </a:p>
                  </a:txBody>
                  <a:tcPr anchor="ctr" marL="137160" marR="137160">
                    <a:solidFill>
                      <a:srgbClr val="FFFFFF"/>
                    </a:solidFill>
                  </a:tcPr>
                </a:tc>
              </a:tr>
              <a:tr h="731520">
                <a:tc>
                  <a:txBody>
                    <a:bodyPr wrap="square"/>
                    <a:lstStyle/>
                    <a:p>
                      <a:r>
                        <a:rPr sz="1500" b="1">
                          <a:solidFill>
                            <a:srgbClr val="1B2340"/>
                          </a:solidFill>
                          <a:latin typeface="Calibri"/>
                        </a:rPr>
                        <a:t>Nước đi đọc ở đâu?</a:t>
                      </a:r>
                    </a:p>
                  </a:txBody>
                  <a:tcPr anchor="ctr" marL="137160" marR="137160">
                    <a:solidFill>
                      <a:srgbClr val="EEF2FA"/>
                    </a:solidFill>
                  </a:tcPr>
                </a:tc>
                <a:tc>
                  <a:txBody>
                    <a:bodyPr wrap="square"/>
                    <a:lstStyle/>
                    <a:p>
                      <a:r>
                        <a:rPr sz="1500" b="0">
                          <a:solidFill>
                            <a:srgbClr val="1B2340"/>
                          </a:solidFill>
                          <a:latin typeface="Calibri"/>
                        </a:rPr>
                        <a:t>Ô sắp rơi vào</a:t>
                      </a:r>
                    </a:p>
                  </a:txBody>
                  <a:tcPr anchor="ctr" marL="137160" marR="137160">
                    <a:solidFill>
                      <a:srgbClr val="EEF2FA"/>
                    </a:solidFill>
                  </a:tcPr>
                </a:tc>
                <a:tc>
                  <a:txBody>
                    <a:bodyPr wrap="square"/>
                    <a:lstStyle/>
                    <a:p>
                      <a:r>
                        <a:rPr sz="1500" b="0">
                          <a:solidFill>
                            <a:srgbClr val="1B2340"/>
                          </a:solidFill>
                          <a:latin typeface="Calibri"/>
                        </a:rPr>
                        <a:t>Ô sắp rơi vào</a:t>
                      </a:r>
                    </a:p>
                  </a:txBody>
                  <a:tcPr anchor="ctr" marL="137160" marR="137160">
                    <a:solidFill>
                      <a:srgbClr val="EEF2FA"/>
                    </a:solidFill>
                  </a:tcPr>
                </a:tc>
                <a:tc>
                  <a:txBody>
                    <a:bodyPr wrap="square"/>
                    <a:lstStyle/>
                    <a:p>
                      <a:r>
                        <a:rPr sz="1500" b="0">
                          <a:solidFill>
                            <a:srgbClr val="1B2340"/>
                          </a:solidFill>
                          <a:latin typeface="Calibri"/>
                        </a:rPr>
                        <a:t>Trên dây</a:t>
                      </a:r>
                    </a:p>
                  </a:txBody>
                  <a:tcPr anchor="ctr" marL="137160" marR="137160">
                    <a:solidFill>
                      <a:srgbClr val="EEF2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D3F8C"/>
        </a:solidFill>
        <a:effectLst/>
      </p:bgPr>
    </p:bg>
    <p:spTree>
      <p:nvGrpSpPr>
        <p:cNvPr id="1" name=""/>
        <p:cNvGrpSpPr/>
        <p:nvPr/>
      </p:nvGrpSpPr>
      <p:grpSpPr/>
      <p:sp>
        <p:nvSpPr>
          <p:cNvPr id="2" name="TextBox 1"/>
          <p:cNvSpPr txBox="1"/>
          <p:nvPr/>
        </p:nvSpPr>
        <p:spPr>
          <a:xfrm>
            <a:off x="731520" y="822960"/>
            <a:ext cx="10515600" cy="822960"/>
          </a:xfrm>
          <a:prstGeom prst="rect">
            <a:avLst/>
          </a:prstGeom>
          <a:noFill/>
        </p:spPr>
        <p:txBody>
          <a:bodyPr wrap="square" anchor="t" lIns="0" rIns="0" tIns="0" bIns="0">
            <a:spAutoFit/>
          </a:bodyPr>
          <a:lstStyle/>
          <a:p>
            <a:pPr algn="l"/>
            <a:r>
              <a:rPr sz="4000" b="1" i="0">
                <a:solidFill>
                  <a:srgbClr val="FFFFFF"/>
                </a:solidFill>
                <a:latin typeface="Cambria"/>
              </a:rPr>
              <a:t>Ba cách, ba câu tóm tắt</a:t>
            </a:r>
          </a:p>
        </p:txBody>
      </p:sp>
      <p:sp>
        <p:nvSpPr>
          <p:cNvPr id="3" name="Oval 2"/>
          <p:cNvSpPr/>
          <p:nvPr/>
        </p:nvSpPr>
        <p:spPr>
          <a:xfrm>
            <a:off x="777240" y="2240280"/>
            <a:ext cx="640080" cy="640080"/>
          </a:xfrm>
          <a:prstGeom prst="ellipse">
            <a:avLst/>
          </a:prstGeom>
          <a:solidFill>
            <a:srgbClr val="142C66"/>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4" name="TextBox 3"/>
          <p:cNvSpPr txBox="1"/>
          <p:nvPr/>
        </p:nvSpPr>
        <p:spPr>
          <a:xfrm>
            <a:off x="1691640" y="2194560"/>
            <a:ext cx="9601200" cy="411480"/>
          </a:xfrm>
          <a:prstGeom prst="rect">
            <a:avLst/>
          </a:prstGeom>
          <a:noFill/>
        </p:spPr>
        <p:txBody>
          <a:bodyPr wrap="square" anchor="t" lIns="0" rIns="0" tIns="0" bIns="0">
            <a:spAutoFit/>
          </a:bodyPr>
          <a:lstStyle/>
          <a:p>
            <a:pPr algn="l"/>
            <a:r>
              <a:rPr sz="2100" b="1" i="0">
                <a:solidFill>
                  <a:srgbClr val="FFFFFF"/>
                </a:solidFill>
                <a:latin typeface="Calibri"/>
              </a:rPr>
              <a:t>Phương pháp 2 · Lưới</a:t>
            </a:r>
          </a:p>
        </p:txBody>
      </p:sp>
      <p:sp>
        <p:nvSpPr>
          <p:cNvPr id="5" name="TextBox 4"/>
          <p:cNvSpPr txBox="1"/>
          <p:nvPr/>
        </p:nvSpPr>
        <p:spPr>
          <a:xfrm>
            <a:off x="1691640" y="2624328"/>
            <a:ext cx="9601200" cy="457200"/>
          </a:xfrm>
          <a:prstGeom prst="rect">
            <a:avLst/>
          </a:prstGeom>
          <a:noFill/>
        </p:spPr>
        <p:txBody>
          <a:bodyPr wrap="square" anchor="t" lIns="0" rIns="0" tIns="0" bIns="0">
            <a:spAutoFit/>
          </a:bodyPr>
          <a:lstStyle/>
          <a:p>
            <a:pPr algn="l"/>
            <a:r>
              <a:rPr sz="1800" b="0" i="0">
                <a:solidFill>
                  <a:srgbClr val="DCE4F5"/>
                </a:solidFill>
                <a:latin typeface="Calibri"/>
              </a:rPr>
              <a:t>Mọi ô đều có mặt, mỗi ô chỉ nói chuyện với hàng xóm sát bên.</a:t>
            </a:r>
          </a:p>
        </p:txBody>
      </p:sp>
      <p:sp>
        <p:nvSpPr>
          <p:cNvPr id="6" name="Oval 5"/>
          <p:cNvSpPr/>
          <p:nvPr/>
        </p:nvSpPr>
        <p:spPr>
          <a:xfrm>
            <a:off x="777240" y="3566160"/>
            <a:ext cx="640080" cy="640080"/>
          </a:xfrm>
          <a:prstGeom prst="ellipse">
            <a:avLst/>
          </a:prstGeom>
          <a:solidFill>
            <a:srgbClr val="142C66"/>
          </a:solidFill>
          <a:ln w="25400">
            <a:solidFill>
              <a:srgbClr val="7FE0D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7FE0D0"/>
                </a:solidFill>
                <a:latin typeface="Calibri"/>
              </a:rPr>
              <a:t>2</a:t>
            </a:r>
          </a:p>
        </p:txBody>
      </p:sp>
      <p:sp>
        <p:nvSpPr>
          <p:cNvPr id="7" name="TextBox 6"/>
          <p:cNvSpPr txBox="1"/>
          <p:nvPr/>
        </p:nvSpPr>
        <p:spPr>
          <a:xfrm>
            <a:off x="1691640" y="3520439"/>
            <a:ext cx="9601200" cy="411480"/>
          </a:xfrm>
          <a:prstGeom prst="rect">
            <a:avLst/>
          </a:prstGeom>
          <a:noFill/>
        </p:spPr>
        <p:txBody>
          <a:bodyPr wrap="square" anchor="t" lIns="0" rIns="0" tIns="0" bIns="0">
            <a:spAutoFit/>
          </a:bodyPr>
          <a:lstStyle/>
          <a:p>
            <a:pPr algn="l"/>
            <a:r>
              <a:rPr sz="2100" b="1" i="0">
                <a:solidFill>
                  <a:srgbClr val="7FE0D0"/>
                </a:solidFill>
                <a:latin typeface="Calibri"/>
              </a:rPr>
              <a:t>Phương pháp 1 · Động</a:t>
            </a:r>
          </a:p>
        </p:txBody>
      </p:sp>
      <p:sp>
        <p:nvSpPr>
          <p:cNvPr id="8" name="TextBox 7"/>
          <p:cNvSpPr txBox="1"/>
          <p:nvPr/>
        </p:nvSpPr>
        <p:spPr>
          <a:xfrm>
            <a:off x="1691640" y="3950208"/>
            <a:ext cx="9601200" cy="457200"/>
          </a:xfrm>
          <a:prstGeom prst="rect">
            <a:avLst/>
          </a:prstGeom>
          <a:noFill/>
        </p:spPr>
        <p:txBody>
          <a:bodyPr wrap="square" anchor="t" lIns="0" rIns="0" tIns="0" bIns="0">
            <a:spAutoFit/>
          </a:bodyPr>
          <a:lstStyle/>
          <a:p>
            <a:pPr algn="l"/>
            <a:r>
              <a:rPr sz="1800" b="0" i="0">
                <a:solidFill>
                  <a:srgbClr val="DCE4F5"/>
                </a:solidFill>
                <a:latin typeface="Calibri"/>
              </a:rPr>
              <a:t>Chỉ giữ ô quan trọng, nối xa tối đa 3 ô để không bỏ sót mối đe dọa.</a:t>
            </a:r>
          </a:p>
        </p:txBody>
      </p:sp>
      <p:sp>
        <p:nvSpPr>
          <p:cNvPr id="9" name="Oval 8"/>
          <p:cNvSpPr/>
          <p:nvPr/>
        </p:nvSpPr>
        <p:spPr>
          <a:xfrm>
            <a:off x="777240" y="4892040"/>
            <a:ext cx="640080" cy="640080"/>
          </a:xfrm>
          <a:prstGeom prst="ellipse">
            <a:avLst/>
          </a:prstGeom>
          <a:solidFill>
            <a:srgbClr val="142C66"/>
          </a:solidFill>
          <a:ln w="25400">
            <a:solidFill>
              <a:srgbClr val="C7B5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C7B5F0"/>
                </a:solidFill>
                <a:latin typeface="Calibri"/>
              </a:rPr>
              <a:t>3</a:t>
            </a:r>
          </a:p>
        </p:txBody>
      </p:sp>
      <p:sp>
        <p:nvSpPr>
          <p:cNvPr id="10" name="TextBox 9"/>
          <p:cNvSpPr txBox="1"/>
          <p:nvPr/>
        </p:nvSpPr>
        <p:spPr>
          <a:xfrm>
            <a:off x="1691640" y="4846320"/>
            <a:ext cx="9601200" cy="411480"/>
          </a:xfrm>
          <a:prstGeom prst="rect">
            <a:avLst/>
          </a:prstGeom>
          <a:noFill/>
        </p:spPr>
        <p:txBody>
          <a:bodyPr wrap="square" anchor="t" lIns="0" rIns="0" tIns="0" bIns="0">
            <a:spAutoFit/>
          </a:bodyPr>
          <a:lstStyle/>
          <a:p>
            <a:pPr algn="l"/>
            <a:r>
              <a:rPr sz="2100" b="1" i="0">
                <a:solidFill>
                  <a:srgbClr val="C7B5F0"/>
                </a:solidFill>
                <a:latin typeface="Calibri"/>
              </a:rPr>
              <a:t>AlphaGateau</a:t>
            </a:r>
          </a:p>
        </p:txBody>
      </p:sp>
      <p:sp>
        <p:nvSpPr>
          <p:cNvPr id="11" name="TextBox 10"/>
          <p:cNvSpPr txBox="1"/>
          <p:nvPr/>
        </p:nvSpPr>
        <p:spPr>
          <a:xfrm>
            <a:off x="1691640" y="5276088"/>
            <a:ext cx="9601200" cy="457200"/>
          </a:xfrm>
          <a:prstGeom prst="rect">
            <a:avLst/>
          </a:prstGeom>
          <a:noFill/>
        </p:spPr>
        <p:txBody>
          <a:bodyPr wrap="square" anchor="t" lIns="0" rIns="0" tIns="0" bIns="0">
            <a:spAutoFit/>
          </a:bodyPr>
          <a:lstStyle/>
          <a:p>
            <a:pPr algn="l"/>
            <a:r>
              <a:rPr sz="1800" b="0" i="0">
                <a:solidFill>
                  <a:srgbClr val="DCE4F5"/>
                </a:solidFill>
                <a:latin typeface="Calibri"/>
              </a:rPr>
              <a:t>Dây nối chính là nước đi — rất hợp cờ vua, ít lợi thế với Connect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